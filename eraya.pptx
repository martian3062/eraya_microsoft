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5"/>
  </p:notesMasterIdLst>
  <p:sldIdLst>
    <p:sldId id="293" r:id="rId2"/>
    <p:sldId id="294" r:id="rId3"/>
    <p:sldId id="295" r:id="rId4"/>
    <p:sldId id="30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7" r:id="rId13"/>
    <p:sldId id="305" r:id="rId14"/>
  </p:sldIdLst>
  <p:sldSz cx="18288000" cy="10287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5F33D6-0CDE-48E9-8D08-8A4B72FD51BC}">
  <a:tblStyle styleId="{765F33D6-0CDE-48E9-8D08-8A4B72FD51B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0E907AF-2825-4FBA-9A93-92846E8BA34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90" y="3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687083" y="542925"/>
            <a:ext cx="371465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50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1114397" y="971550"/>
            <a:ext cx="118583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Casper Agentic Buildathon 2026 · Qualification Round · Casper Innovation Track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1114397" y="1971675"/>
            <a:ext cx="11001101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42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— Self-Healing Agentic DeFi Treasury Swarm</a:t>
            </a:r>
            <a:endParaRPr lang="en-US" sz="4275" dirty="0"/>
          </a:p>
        </p:txBody>
      </p:sp>
      <p:sp>
        <p:nvSpPr>
          <p:cNvPr id="5" name="Shape 3"/>
          <p:cNvSpPr/>
          <p:nvPr/>
        </p:nvSpPr>
        <p:spPr>
          <a:xfrm>
            <a:off x="1114397" y="4829175"/>
            <a:ext cx="1314417" cy="85725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397" y="5200650"/>
            <a:ext cx="10286744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dirty="0">
                <a:solidFill>
                  <a:srgbClr val="2034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production, live agentic system at the convergence of Agentic AI × DeFi × RWA on Casper.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114397" y="6686550"/>
            <a:ext cx="10429614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b="1" i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Quorum before execution · KAVACHA before damage · x402 inside the agent economy.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12315518" y="2286000"/>
            <a:ext cx="4714757" cy="4857750"/>
          </a:xfrm>
          <a:prstGeom prst="roundRect">
            <a:avLst/>
          </a:prstGeom>
          <a:solidFill>
            <a:srgbClr val="FFFFFF">
              <a:alpha val="62000"/>
            </a:srgbClr>
          </a:solidFill>
          <a:ln w="19050">
            <a:solidFill>
              <a:srgbClr val="755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715558" y="2643188"/>
            <a:ext cx="3914678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ERAYA</a:t>
            </a:r>
            <a:endParaRPr lang="en-US" sz="2475" dirty="0"/>
          </a:p>
        </p:txBody>
      </p:sp>
      <p:sp>
        <p:nvSpPr>
          <p:cNvPr id="10" name="Text 8"/>
          <p:cNvSpPr/>
          <p:nvPr/>
        </p:nvSpPr>
        <p:spPr>
          <a:xfrm>
            <a:off x="12715558" y="3067348"/>
            <a:ext cx="3914678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3345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Lead:</a:t>
            </a:r>
            <a:endParaRPr lang="en-US" sz="1725" dirty="0"/>
          </a:p>
          <a:p>
            <a:pPr marL="0" indent="0" algn="l">
              <a:buNone/>
            </a:pPr>
            <a:r>
              <a:rPr lang="en-US" sz="1725" dirty="0">
                <a:solidFill>
                  <a:srgbClr val="23345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Pardeep Singh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12715558" y="3746005"/>
            <a:ext cx="3914678" cy="33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3345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sandhupardeep300@gmail.com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2715558" y="4085333"/>
            <a:ext cx="3914678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3345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demo</a:t>
            </a:r>
            <a:endParaRPr lang="en-US" sz="1725" dirty="0"/>
          </a:p>
          <a:p>
            <a:pPr marL="0" indent="0" algn="l">
              <a:buNone/>
            </a:pPr>
            <a:r>
              <a:rPr lang="en-US" sz="1725" dirty="0">
                <a:solidFill>
                  <a:srgbClr val="23345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http://35.255.196.78/eraya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12715558" y="4763989"/>
            <a:ext cx="3914678" cy="33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3345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Open-source on GitHub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1114397" y="9344025"/>
            <a:ext cx="1605874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dirty="0">
                <a:solidFill>
                  <a:srgbClr val="4E5B7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Self-Healing Agentic DeFi Treasury Swarm · Casper Agentic Buildathon 2026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373636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74293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— THE PROBLEM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6" y="1057275"/>
            <a:ext cx="12144072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45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 does not fail politely.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71526" y="2085976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7" y="2571751"/>
            <a:ext cx="8015087" cy="2986088"/>
          </a:xfrm>
          <a:prstGeom prst="roundRect">
            <a:avLst/>
          </a:prstGeom>
          <a:solidFill>
            <a:srgbClr val="FFFFFF">
              <a:alpha val="6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183" dist="794" dir="5400000" algn="bl" rotWithShape="0">
              <a:srgbClr val="303782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21530" y="2571751"/>
            <a:ext cx="0" cy="2986088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755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43002" y="2886076"/>
            <a:ext cx="7172145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Humans and single bots break</a:t>
            </a:r>
            <a:endParaRPr lang="en-US" sz="2475" dirty="0"/>
          </a:p>
        </p:txBody>
      </p:sp>
      <p:sp>
        <p:nvSpPr>
          <p:cNvPr id="9" name="Text 7"/>
          <p:cNvSpPr/>
          <p:nvPr/>
        </p:nvSpPr>
        <p:spPr>
          <a:xfrm>
            <a:off x="1443002" y="3310235"/>
            <a:ext cx="7172145" cy="76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Treasuries are run by humans or single “trade bots” — both break under adversarial, real-money conditions.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9300931" y="2571751"/>
            <a:ext cx="8015087" cy="2986088"/>
          </a:xfrm>
          <a:prstGeom prst="roundRect">
            <a:avLst/>
          </a:prstGeom>
          <a:solidFill>
            <a:srgbClr val="FFFFFF">
              <a:alpha val="6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183" dist="794" dir="5400000" algn="bl" rotWithShape="0">
              <a:srgbClr val="303782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50936" y="2571751"/>
            <a:ext cx="0" cy="2986088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755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72406" y="2886076"/>
            <a:ext cx="7172145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Failure paths are not optional</a:t>
            </a:r>
            <a:endParaRPr lang="en-US" sz="2475" dirty="0"/>
          </a:p>
        </p:txBody>
      </p:sp>
      <p:sp>
        <p:nvSpPr>
          <p:cNvPr id="13" name="Text 11"/>
          <p:cNvSpPr/>
          <p:nvPr/>
        </p:nvSpPr>
        <p:spPr>
          <a:xfrm>
            <a:off x="9772406" y="3310235"/>
            <a:ext cx="7172145" cy="76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On-chain systems punish missing failure paths with irreversible loss, not just a bad log line.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971527" y="5872163"/>
            <a:ext cx="8015087" cy="2986088"/>
          </a:xfrm>
          <a:prstGeom prst="roundRect">
            <a:avLst/>
          </a:prstGeom>
          <a:solidFill>
            <a:srgbClr val="FFFFFF">
              <a:alpha val="6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183" dist="794" dir="5400000" algn="bl" rotWithShape="0">
              <a:srgbClr val="303782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21530" y="5872163"/>
            <a:ext cx="0" cy="2986088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755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43002" y="6186488"/>
            <a:ext cx="7172145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Happy-path demos are not enough</a:t>
            </a:r>
            <a:endParaRPr lang="en-US" sz="2475" dirty="0"/>
          </a:p>
        </p:txBody>
      </p:sp>
      <p:sp>
        <p:nvSpPr>
          <p:cNvPr id="17" name="Text 15"/>
          <p:cNvSpPr/>
          <p:nvPr/>
        </p:nvSpPr>
        <p:spPr>
          <a:xfrm>
            <a:off x="1443002" y="6610647"/>
            <a:ext cx="7172145" cy="76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Most agent demos optimise the happy path; none prove what happens when a fix itself fails.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9300931" y="5872163"/>
            <a:ext cx="8015087" cy="2986088"/>
          </a:xfrm>
          <a:prstGeom prst="roundRect">
            <a:avLst/>
          </a:prstGeom>
          <a:solidFill>
            <a:srgbClr val="FFFFFF">
              <a:alpha val="6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183" dist="794" dir="5400000" algn="bl" rotWithShape="0">
              <a:srgbClr val="303782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350936" y="5872163"/>
            <a:ext cx="0" cy="2986088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7558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72406" y="6186488"/>
            <a:ext cx="7172145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and review are missing</a:t>
            </a:r>
            <a:endParaRPr lang="en-US" sz="2475" dirty="0"/>
          </a:p>
        </p:txBody>
      </p:sp>
      <p:sp>
        <p:nvSpPr>
          <p:cNvPr id="21" name="Text 19"/>
          <p:cNvSpPr/>
          <p:nvPr/>
        </p:nvSpPr>
        <p:spPr>
          <a:xfrm>
            <a:off x="9772406" y="6610647"/>
            <a:ext cx="7172145" cy="76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on-chain agent identity, no economic signal for useful agent work, no adversarial review before high-stakes moves.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Problem framing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878815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7" y="600075"/>
            <a:ext cx="8572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3 — THE SOLUTION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6" y="1085850"/>
            <a:ext cx="14858628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8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turns a DeFi treasury into an immune system.</a:t>
            </a:r>
            <a:endParaRPr lang="en-US" sz="3825" dirty="0"/>
          </a:p>
        </p:txBody>
      </p:sp>
      <p:sp>
        <p:nvSpPr>
          <p:cNvPr id="5" name="Shape 3"/>
          <p:cNvSpPr/>
          <p:nvPr/>
        </p:nvSpPr>
        <p:spPr>
          <a:xfrm>
            <a:off x="971526" y="2486026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57269" y="2886075"/>
            <a:ext cx="5571986" cy="4857750"/>
          </a:xfrm>
          <a:prstGeom prst="roundRect">
            <a:avLst/>
          </a:prstGeom>
          <a:solidFill>
            <a:srgbClr val="132758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85884" y="3314700"/>
            <a:ext cx="4714757" cy="108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1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Self-healing treasury swarm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685884" y="4394745"/>
            <a:ext cx="4714757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E9EC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specialised AI agents share context, vote on high-stakes moves, and recover rather than failing closed.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72187" y="2771775"/>
            <a:ext cx="4671896" cy="2835399"/>
          </a:xfrm>
          <a:prstGeom prst="roundRect">
            <a:avLst/>
          </a:prstGeom>
          <a:solidFill>
            <a:srgbClr val="FFFFFF">
              <a:alpha val="66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72217" y="3043238"/>
            <a:ext cx="4071836" cy="3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Quorum before execution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7872217" y="3415829"/>
            <a:ext cx="4071836" cy="985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Specialised agents share context and vote on high-stakes moves before treasury action.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12501251" y="2771775"/>
            <a:ext cx="4671896" cy="2835399"/>
          </a:xfrm>
          <a:prstGeom prst="roundRect">
            <a:avLst/>
          </a:prstGeom>
          <a:solidFill>
            <a:srgbClr val="FFFFFF">
              <a:alpha val="66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281" y="3043238"/>
            <a:ext cx="4071836" cy="3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Recovery when fixes fail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12801281" y="3415829"/>
            <a:ext cx="4071836" cy="985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a remediation fails, the swarm re-plans and recovers — a real self-healing loop, not a script.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7572187" y="5864349"/>
            <a:ext cx="4671896" cy="2879601"/>
          </a:xfrm>
          <a:prstGeom prst="roundRect">
            <a:avLst/>
          </a:prstGeom>
          <a:solidFill>
            <a:srgbClr val="FFFFFF">
              <a:alpha val="66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72217" y="6135812"/>
            <a:ext cx="4071836" cy="3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KAVACHA before damage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7872217" y="6508403"/>
            <a:ext cx="4071836" cy="985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Security-first by design: KAVACHA blocks unsafe actions and injection before damage.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501251" y="5864349"/>
            <a:ext cx="4671896" cy="2879601"/>
          </a:xfrm>
          <a:prstGeom prst="roundRect">
            <a:avLst/>
          </a:prstGeom>
          <a:solidFill>
            <a:srgbClr val="FFFFFF">
              <a:alpha val="66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281" y="6135812"/>
            <a:ext cx="4071836" cy="745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x402 inside the agent economy</a:t>
            </a:r>
            <a:endParaRPr lang="en-US" sz="2175" dirty="0"/>
          </a:p>
        </p:txBody>
      </p:sp>
      <p:sp>
        <p:nvSpPr>
          <p:cNvPr id="21" name="Text 19"/>
          <p:cNvSpPr/>
          <p:nvPr/>
        </p:nvSpPr>
        <p:spPr>
          <a:xfrm>
            <a:off x="12801281" y="6880994"/>
            <a:ext cx="4071836" cy="656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x402 prices inter-agent work; reputation is anchored on Casper.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Solution architecture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564168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4 — HOW IT WORKS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6" y="1085850"/>
            <a:ext cx="14287143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7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Perceiver → Planner → Recoverer → Guardian, over an A2A bus.</a:t>
            </a:r>
            <a:endParaRPr lang="en-US" sz="3750" dirty="0"/>
          </a:p>
        </p:txBody>
      </p:sp>
      <p:sp>
        <p:nvSpPr>
          <p:cNvPr id="5" name="Shape 3"/>
          <p:cNvSpPr/>
          <p:nvPr/>
        </p:nvSpPr>
        <p:spPr>
          <a:xfrm>
            <a:off x="971526" y="2486026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71526" y="2928938"/>
            <a:ext cx="3893247" cy="2257425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214408" y="3171826"/>
            <a:ext cx="3407484" cy="411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Perceiver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14408" y="3583037"/>
            <a:ext cx="3407484" cy="888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Casper DeFi signals + risk features using TabPFN 3 tabular scoring.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5121941" y="2928938"/>
            <a:ext cx="3893247" cy="2257425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364822" y="3171826"/>
            <a:ext cx="3407484" cy="411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364822" y="3583037"/>
            <a:ext cx="3407484" cy="888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LLM cascade — Groq → Kimi → local HF — generates risk-adjusted rebalance actions.</a:t>
            </a:r>
            <a:endParaRPr lang="en-US" sz="1575" dirty="0"/>
          </a:p>
        </p:txBody>
      </p:sp>
      <p:sp>
        <p:nvSpPr>
          <p:cNvPr id="12" name="Shape 10"/>
          <p:cNvSpPr/>
          <p:nvPr/>
        </p:nvSpPr>
        <p:spPr>
          <a:xfrm>
            <a:off x="9272355" y="2928938"/>
            <a:ext cx="3893247" cy="2257425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515237" y="3171826"/>
            <a:ext cx="3407484" cy="411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Recoverer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515237" y="3583037"/>
            <a:ext cx="3407484" cy="59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Keeps rollback and retry paths ready; drives the self-healing reroute.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13422771" y="2928938"/>
            <a:ext cx="3893247" cy="2257425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3665653" y="3171826"/>
            <a:ext cx="3407484" cy="411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Guardian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665653" y="3583037"/>
            <a:ext cx="3407484" cy="888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KAVACHA blocks unsafe actions, verifies A2A identity, and writes signed audit.</a:t>
            </a:r>
            <a:endParaRPr lang="en-US" sz="1575" dirty="0"/>
          </a:p>
        </p:txBody>
      </p:sp>
      <p:sp>
        <p:nvSpPr>
          <p:cNvPr id="18" name="Shape 16"/>
          <p:cNvSpPr/>
          <p:nvPr/>
        </p:nvSpPr>
        <p:spPr>
          <a:xfrm>
            <a:off x="1314418" y="5543550"/>
            <a:ext cx="15658709" cy="628650"/>
          </a:xfrm>
          <a:prstGeom prst="roundRect">
            <a:avLst/>
          </a:prstGeom>
          <a:solidFill>
            <a:srgbClr val="132758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DE4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HMAC-signed A2A bus · shared context · quorum gates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57290" y="6600825"/>
            <a:ext cx="10858229" cy="1600200"/>
          </a:xfrm>
          <a:prstGeom prst="roundRect">
            <a:avLst/>
          </a:prstGeom>
          <a:solidFill>
            <a:srgbClr val="FFFFFF">
              <a:alpha val="6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1507293" y="6600825"/>
            <a:ext cx="0" cy="1600200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25A36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1900190" y="6858001"/>
            <a:ext cx="1007243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3-tier cascade: never fails silently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900190" y="7243763"/>
            <a:ext cx="10072436" cy="331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GPU/LLM → CPU models (TabPFN, XGBoost) → deterministic rules.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Agent archetypes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332785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5 — ARCHITECTURE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7" y="1085850"/>
            <a:ext cx="14430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8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Product, swarm, and Casper layer in one deployed loop.</a:t>
            </a:r>
            <a:endParaRPr lang="en-US" sz="3825" dirty="0"/>
          </a:p>
        </p:txBody>
      </p:sp>
      <p:sp>
        <p:nvSpPr>
          <p:cNvPr id="5" name="Shape 3"/>
          <p:cNvSpPr/>
          <p:nvPr/>
        </p:nvSpPr>
        <p:spPr>
          <a:xfrm>
            <a:off x="971526" y="2571751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6" y="2914650"/>
            <a:ext cx="16344492" cy="5886450"/>
          </a:xfrm>
          <a:prstGeom prst="roundRect">
            <a:avLst/>
          </a:prstGeom>
          <a:solidFill>
            <a:srgbClr val="FFFFFF">
              <a:alpha val="66000"/>
            </a:srgbClr>
          </a:solidFill>
          <a:ln w="9525">
            <a:solidFill>
              <a:srgbClr val="7558D6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1242982" y="3186113"/>
          <a:ext cx="15801581" cy="4072386"/>
        </p:xfrm>
        <a:graphic>
          <a:graphicData uri="http://schemas.openxmlformats.org/drawingml/2006/table">
            <a:tbl>
              <a:tblPr/>
              <a:tblGrid>
                <a:gridCol w="2285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5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950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7558D6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LAYER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7558D6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DEPLOYED ROLE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45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3275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Frontend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66675" cap="flat" cmpd="sng" algn="ctr">
                      <a:solidFill>
                        <a:srgbClr val="755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4395D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Next.js console — DeFi portfolio · threat radar · swarm-consensus UI.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45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3275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Backend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66675" cap="flat" cmpd="sng" algn="ctr">
                      <a:solidFill>
                        <a:srgbClr val="755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4395D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Django + Channels — REST/WebSocket, audit log, domain registry (daphne on the VM).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45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3275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Swarm core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66675" cap="flat" cmpd="sng" algn="ctr">
                      <a:solidFill>
                        <a:srgbClr val="755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4395D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Perceiver · Planner · Recoverer · Guardian, coordinated via HMAC-signed A2A + ErayaGraph shared memory (Pinecone-backed).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45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3275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Casper layer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66675" cap="flat" cmpd="sng" algn="ctr">
                      <a:solidFill>
                        <a:srgbClr val="755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4395D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MCP facades · CSPR.click wallet · x402 + reputation.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45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3275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Observability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66675" cap="flat" cmpd="sng" algn="ctr">
                      <a:solidFill>
                        <a:srgbClr val="755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4395D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OpenTelemetry traces on every cascade tier.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Deployed architecture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860063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6 — CASPER INTEGRATION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6" y="1085850"/>
            <a:ext cx="12858429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45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Casper-native, not Casper-adjacent.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71526" y="2114551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7" y="2486025"/>
            <a:ext cx="8816507" cy="6486525"/>
          </a:xfrm>
          <a:prstGeom prst="roundRect">
            <a:avLst/>
          </a:prstGeom>
          <a:solidFill>
            <a:srgbClr val="132758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566" y="2857501"/>
            <a:ext cx="8016426" cy="502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casper_defi domain adapter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371566" y="3360242"/>
            <a:ext cx="8016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E9EC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CSPR.cloud / CSPR.trade-shaped telemetry: pool TVL, APY, gas, slippage, liquidity depth, governance quorum, validator uptime, and mempool.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566" y="4274642"/>
            <a:ext cx="1100333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pool TVL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86197" y="4274642"/>
            <a:ext cx="677523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78017" y="4274642"/>
            <a:ext cx="614124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06438" y="4274642"/>
            <a:ext cx="1058366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slippage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79101" y="4274642"/>
            <a:ext cx="1586990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liquidity depth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80385" y="4274642"/>
            <a:ext cx="2116506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quorum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566" y="4884094"/>
            <a:ext cx="1756872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validator uptime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42735" y="4884094"/>
            <a:ext cx="1132256" cy="49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mempool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102350" y="2486025"/>
            <a:ext cx="3492537" cy="3287688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73806" y="2757488"/>
            <a:ext cx="2949626" cy="3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x402-aware A2A</a:t>
            </a:r>
            <a:endParaRPr lang="en-US" sz="2175" dirty="0"/>
          </a:p>
        </p:txBody>
      </p:sp>
      <p:sp>
        <p:nvSpPr>
          <p:cNvPr id="19" name="Text 17"/>
          <p:cNvSpPr/>
          <p:nvPr/>
        </p:nvSpPr>
        <p:spPr>
          <a:xfrm>
            <a:off x="10373806" y="3130079"/>
            <a:ext cx="2949626" cy="634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Paid inter-agent requests via X402EnabledBus.</a:t>
            </a:r>
            <a:endParaRPr lang="en-US" sz="1725" dirty="0"/>
          </a:p>
        </p:txBody>
      </p:sp>
      <p:sp>
        <p:nvSpPr>
          <p:cNvPr id="20" name="Shape 18"/>
          <p:cNvSpPr/>
          <p:nvPr/>
        </p:nvSpPr>
        <p:spPr>
          <a:xfrm>
            <a:off x="13823481" y="2486025"/>
            <a:ext cx="3492537" cy="3287688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94937" y="2757488"/>
            <a:ext cx="2949626" cy="3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CSPR.click + MCP</a:t>
            </a:r>
            <a:endParaRPr lang="en-US" sz="2175" dirty="0"/>
          </a:p>
        </p:txBody>
      </p:sp>
      <p:sp>
        <p:nvSpPr>
          <p:cNvPr id="22" name="Text 20"/>
          <p:cNvSpPr/>
          <p:nvPr/>
        </p:nvSpPr>
        <p:spPr>
          <a:xfrm>
            <a:off x="14094937" y="3130079"/>
            <a:ext cx="2949626" cy="126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CSPR.click wallet + Casper MCP facades — demo-safe today, provider URLs ready to go live.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10102350" y="6002313"/>
            <a:ext cx="3492537" cy="2970237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73806" y="6273776"/>
            <a:ext cx="2949626" cy="3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Odra contracts</a:t>
            </a:r>
            <a:endParaRPr lang="en-US" sz="2175" dirty="0"/>
          </a:p>
        </p:txBody>
      </p:sp>
      <p:sp>
        <p:nvSpPr>
          <p:cNvPr id="25" name="Text 23"/>
          <p:cNvSpPr/>
          <p:nvPr/>
        </p:nvSpPr>
        <p:spPr>
          <a:xfrm>
            <a:off x="10373806" y="6646367"/>
            <a:ext cx="2949626" cy="952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Roadmap: agent registry, treasury, governance, and reputation on Casper testnet.</a:t>
            </a:r>
            <a:endParaRPr lang="en-US" sz="1725" dirty="0"/>
          </a:p>
        </p:txBody>
      </p:sp>
      <p:sp>
        <p:nvSpPr>
          <p:cNvPr id="26" name="Shape 24"/>
          <p:cNvSpPr/>
          <p:nvPr/>
        </p:nvSpPr>
        <p:spPr>
          <a:xfrm>
            <a:off x="13823481" y="6002313"/>
            <a:ext cx="3492537" cy="2970237"/>
          </a:xfrm>
          <a:prstGeom prst="roundRect">
            <a:avLst/>
          </a:prstGeom>
          <a:solidFill>
            <a:srgbClr val="FFFFFF">
              <a:alpha val="67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094937" y="6273776"/>
            <a:ext cx="2949626" cy="3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1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Reputation batches</a:t>
            </a:r>
            <a:endParaRPr lang="en-US" sz="2175" dirty="0"/>
          </a:p>
        </p:txBody>
      </p:sp>
      <p:sp>
        <p:nvSpPr>
          <p:cNvPr id="28" name="Text 26"/>
          <p:cNvSpPr/>
          <p:nvPr/>
        </p:nvSpPr>
        <p:spPr>
          <a:xfrm>
            <a:off x="14094937" y="6646367"/>
            <a:ext cx="2949626" cy="634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Reputation data is shaped for on-chain anchoring.</a:t>
            </a:r>
            <a:endParaRPr lang="en-US" sz="1725" dirty="0"/>
          </a:p>
        </p:txBody>
      </p:sp>
      <p:sp>
        <p:nvSpPr>
          <p:cNvPr id="29" name="Text 27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Casper integration · Track-critical proof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50815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7 — AGENTIC AI STACK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7" y="1085850"/>
            <a:ext cx="147157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7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priced, audited, voting swarm — not a single DEX-calling agent.</a:t>
            </a:r>
            <a:endParaRPr lang="en-US" sz="3750" dirty="0"/>
          </a:p>
        </p:txBody>
      </p:sp>
      <p:sp>
        <p:nvSpPr>
          <p:cNvPr id="5" name="Shape 3"/>
          <p:cNvSpPr/>
          <p:nvPr/>
        </p:nvSpPr>
        <p:spPr>
          <a:xfrm>
            <a:off x="971526" y="2571751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7" y="2914650"/>
            <a:ext cx="8015087" cy="5886450"/>
          </a:xfrm>
          <a:prstGeom prst="roundRect">
            <a:avLst/>
          </a:prstGeom>
          <a:solidFill>
            <a:srgbClr val="FFFFFF">
              <a:alpha val="68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8705" y="3271838"/>
            <a:ext cx="7300730" cy="462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7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LLM cascade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28705" y="3906069"/>
            <a:ext cx="485763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85914" y="3983311"/>
            <a:ext cx="2172539" cy="331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Groq (llama-3.3-70b)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8705" y="4563294"/>
            <a:ext cx="485763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985914" y="4640536"/>
            <a:ext cx="3011462" cy="331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Kimi for long-context planning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8705" y="5220519"/>
            <a:ext cx="485763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85913" y="5297761"/>
            <a:ext cx="2871939" cy="331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 Hugging Face fallback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8705" y="5963470"/>
            <a:ext cx="7300730" cy="647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provider is a graceful-fallback facade — the demo never breaks if a key/service is down.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300931" y="2914651"/>
            <a:ext cx="8015087" cy="1491035"/>
          </a:xfrm>
          <a:prstGeom prst="roundRect">
            <a:avLst/>
          </a:prstGeom>
          <a:solidFill>
            <a:srgbClr val="FFFFFF">
              <a:alpha val="6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50936" y="2914651"/>
            <a:ext cx="0" cy="1491035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25A3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86684" y="3143251"/>
            <a:ext cx="734359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Risk brain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686684" y="3529013"/>
            <a:ext cx="7343592" cy="634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TabPFN 3 tabular foundation model (live, hosted) scores DeFi risk with zero training.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9300931" y="4591423"/>
            <a:ext cx="8015087" cy="1173584"/>
          </a:xfrm>
          <a:prstGeom prst="roundRect">
            <a:avLst/>
          </a:prstGeom>
          <a:solidFill>
            <a:srgbClr val="FFFFFF">
              <a:alpha val="6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50936" y="4591423"/>
            <a:ext cx="0" cy="1173584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25A3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86684" y="4820023"/>
            <a:ext cx="734359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Memory / RAG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686684" y="5205785"/>
            <a:ext cx="7343592" cy="317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Pinecone vector store (ErayaGraph); Firecrawl web ingestion.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00931" y="5950744"/>
            <a:ext cx="8015087" cy="1491035"/>
          </a:xfrm>
          <a:prstGeom prst="roundRect">
            <a:avLst/>
          </a:prstGeom>
          <a:solidFill>
            <a:srgbClr val="FFFFFF">
              <a:alpha val="6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0936" y="5950744"/>
            <a:ext cx="0" cy="1491035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25A36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86684" y="6179344"/>
            <a:ext cx="734359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Multilingual + orchestration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686684" y="6565108"/>
            <a:ext cx="7343592" cy="634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Sarvam AI for multilingual support; LangGraph swarm graph for orchestration.</a:t>
            </a:r>
            <a:endParaRPr lang="en-US" sz="1725" dirty="0"/>
          </a:p>
        </p:txBody>
      </p:sp>
      <p:sp>
        <p:nvSpPr>
          <p:cNvPr id="27" name="Shape 25"/>
          <p:cNvSpPr/>
          <p:nvPr/>
        </p:nvSpPr>
        <p:spPr>
          <a:xfrm>
            <a:off x="9300931" y="7627517"/>
            <a:ext cx="8015087" cy="1173584"/>
          </a:xfrm>
          <a:prstGeom prst="roundRect">
            <a:avLst/>
          </a:prstGeom>
          <a:solidFill>
            <a:srgbClr val="FFFFFF">
              <a:alpha val="6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50936" y="7627517"/>
            <a:ext cx="0" cy="1173584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25A36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86684" y="7856117"/>
            <a:ext cx="734359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Economic signal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686684" y="8241879"/>
            <a:ext cx="7343592" cy="317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x402 prices inter-agent work while audit and quorum preserve trust.</a:t>
            </a:r>
            <a:endParaRPr lang="en-US" sz="1725" dirty="0"/>
          </a:p>
        </p:txBody>
      </p:sp>
      <p:sp>
        <p:nvSpPr>
          <p:cNvPr id="31" name="Text 29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Agentic AI stack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283237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8 — SECURITY-FIRST (KAVACHA)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7" y="1085850"/>
            <a:ext cx="1400140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40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Threats hunted before a bad deploy lands.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71526" y="2571751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7" y="2914650"/>
            <a:ext cx="7213445" cy="5915025"/>
          </a:xfrm>
          <a:prstGeom prst="roundRect">
            <a:avLst/>
          </a:prstGeom>
          <a:solidFill>
            <a:srgbClr val="132758">
              <a:alpha val="9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2993" y="3286125"/>
            <a:ext cx="6470513" cy="621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KAVACHA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342993" y="3907854"/>
            <a:ext cx="6470513" cy="656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E9EC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Security-first guardian for unsafe actions, adversarial inputs, and agent identity.</a:t>
            </a:r>
            <a:endParaRPr lang="en-US" sz="1725" dirty="0"/>
          </a:p>
        </p:txBody>
      </p:sp>
      <p:sp>
        <p:nvSpPr>
          <p:cNvPr id="9" name="Shape 7"/>
          <p:cNvSpPr/>
          <p:nvPr/>
        </p:nvSpPr>
        <p:spPr>
          <a:xfrm>
            <a:off x="1342993" y="4850384"/>
            <a:ext cx="6470513" cy="1114425"/>
          </a:xfrm>
          <a:prstGeom prst="round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7299" y="5064697"/>
            <a:ext cx="60419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attack sim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557299" y="5450459"/>
            <a:ext cx="60419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E9EC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BLOCKED · rule R003 · full signed timeline</a:t>
            </a:r>
            <a:endParaRPr lang="en-US" sz="1575" dirty="0"/>
          </a:p>
        </p:txBody>
      </p:sp>
      <p:sp>
        <p:nvSpPr>
          <p:cNvPr id="12" name="Shape 10"/>
          <p:cNvSpPr/>
          <p:nvPr/>
        </p:nvSpPr>
        <p:spPr>
          <a:xfrm>
            <a:off x="8499288" y="2914651"/>
            <a:ext cx="4308243" cy="3002384"/>
          </a:xfrm>
          <a:prstGeom prst="roundRect">
            <a:avLst/>
          </a:prstGeom>
          <a:solidFill>
            <a:srgbClr val="FFFFFF">
              <a:alpha val="68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42168" y="3157538"/>
            <a:ext cx="3822480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Injection kill-shot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8742168" y="3504680"/>
            <a:ext cx="3822480" cy="86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Operator/agent inputs scanned; unsafe actions BLOCKED with a signed audit trail.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13007551" y="2914651"/>
            <a:ext cx="4308467" cy="3002384"/>
          </a:xfrm>
          <a:prstGeom prst="roundRect">
            <a:avLst/>
          </a:prstGeom>
          <a:solidFill>
            <a:srgbClr val="FFFFFF">
              <a:alpha val="68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250432" y="3157538"/>
            <a:ext cx="3822704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A2A identity defense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3250432" y="3504680"/>
            <a:ext cx="3822704" cy="86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Forged agent messages rejected via HMAC signature check — same function the live WebSocket path uses.</a:t>
            </a:r>
            <a:endParaRPr lang="en-US" sz="1575" dirty="0"/>
          </a:p>
        </p:txBody>
      </p:sp>
      <p:sp>
        <p:nvSpPr>
          <p:cNvPr id="18" name="Shape 16"/>
          <p:cNvSpPr/>
          <p:nvPr/>
        </p:nvSpPr>
        <p:spPr>
          <a:xfrm>
            <a:off x="8499288" y="6117059"/>
            <a:ext cx="4308243" cy="2712617"/>
          </a:xfrm>
          <a:prstGeom prst="roundRect">
            <a:avLst/>
          </a:prstGeom>
          <a:solidFill>
            <a:srgbClr val="FFFFFF">
              <a:alpha val="68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42168" y="6359946"/>
            <a:ext cx="3822480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Quorum before execution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8742168" y="6707089"/>
            <a:ext cx="3822480" cy="579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High-stakes DeFi moves need swarm consensus, not one agent’s call.</a:t>
            </a:r>
            <a:endParaRPr lang="en-US" sz="1575" dirty="0"/>
          </a:p>
        </p:txBody>
      </p:sp>
      <p:sp>
        <p:nvSpPr>
          <p:cNvPr id="21" name="Shape 19"/>
          <p:cNvSpPr/>
          <p:nvPr/>
        </p:nvSpPr>
        <p:spPr>
          <a:xfrm>
            <a:off x="13007551" y="6117059"/>
            <a:ext cx="4308467" cy="2712617"/>
          </a:xfrm>
          <a:prstGeom prst="roundRect">
            <a:avLst/>
          </a:prstGeom>
          <a:solidFill>
            <a:srgbClr val="FFFFFF">
              <a:alpha val="68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250432" y="6359946"/>
            <a:ext cx="3822704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Proactive threat scanner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3250432" y="6707089"/>
            <a:ext cx="3822704" cy="579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Mempool, liquidity, and governance risk are scanned before execution.</a:t>
            </a:r>
            <a:endParaRPr lang="en-US" sz="1575" dirty="0"/>
          </a:p>
        </p:txBody>
      </p:sp>
      <p:sp>
        <p:nvSpPr>
          <p:cNvPr id="24" name="Text 22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Security-first proof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8243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7" y="600075"/>
            <a:ext cx="928664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9 — LIVE PROOF (WORKING TODAY)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6" y="1085850"/>
            <a:ext cx="148586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6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/eraya deployment is serving the Casper DeFi console right now.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971526" y="2571751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71527" y="2914650"/>
            <a:ext cx="10286744" cy="828675"/>
          </a:xfrm>
          <a:prstGeom prst="roundRect">
            <a:avLst/>
          </a:prstGeom>
          <a:solidFill>
            <a:srgbClr val="132758">
              <a:alpha val="9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879600" y="3143250"/>
            <a:ext cx="812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BDE4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http://35.255.196.78/eraya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71526" y="4114800"/>
            <a:ext cx="2557398" cy="15144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157260" y="4357688"/>
            <a:ext cx="2185934" cy="462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7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$820K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157260" y="4820469"/>
            <a:ext cx="2185934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 dirty="0">
                <a:solidFill>
                  <a:srgbClr val="5B65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TREASURY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28945" y="4114800"/>
            <a:ext cx="2557398" cy="15144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914678" y="4357688"/>
            <a:ext cx="2185934" cy="462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7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12.86%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3914678" y="4820469"/>
            <a:ext cx="2185934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 dirty="0">
                <a:solidFill>
                  <a:srgbClr val="5B65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APY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86363" y="4114800"/>
            <a:ext cx="2557398" cy="15144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672097" y="4357688"/>
            <a:ext cx="2185934" cy="462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7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47%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6672097" y="4820469"/>
            <a:ext cx="2185934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 dirty="0">
                <a:solidFill>
                  <a:srgbClr val="5B65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QUORUM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243782" y="4114800"/>
            <a:ext cx="2557398" cy="15144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429515" y="4357688"/>
            <a:ext cx="2185934" cy="462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7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99.2%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429515" y="4820469"/>
            <a:ext cx="2185934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 dirty="0">
                <a:solidFill>
                  <a:srgbClr val="5B65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VALIDATOR UPTIME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2001200" y="4114800"/>
            <a:ext cx="2557398" cy="15144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12186934" y="4357688"/>
            <a:ext cx="2185934" cy="462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7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TabPFN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2186934" y="4820469"/>
            <a:ext cx="2185934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 dirty="0">
                <a:solidFill>
                  <a:srgbClr val="5B65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RISK SCORE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14758619" y="4114800"/>
            <a:ext cx="2557398" cy="15144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14944352" y="4357688"/>
            <a:ext cx="2185934" cy="462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7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4944352" y="4820469"/>
            <a:ext cx="2185934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 dirty="0">
                <a:solidFill>
                  <a:srgbClr val="5B65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API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971526" y="6086475"/>
            <a:ext cx="8029374" cy="1771650"/>
          </a:xfrm>
          <a:prstGeom prst="roundRect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1021530" y="6086475"/>
            <a:ext cx="0" cy="1771650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25A36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385854" y="6343651"/>
            <a:ext cx="730073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system surfaces respond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85854" y="6729413"/>
            <a:ext cx="7300730" cy="634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KAVACHA attack-sim, swarm status, and A2A feed all respond with real data.</a:t>
            </a:r>
            <a:endParaRPr lang="en-US" sz="1725" dirty="0"/>
          </a:p>
        </p:txBody>
      </p:sp>
      <p:sp>
        <p:nvSpPr>
          <p:cNvPr id="30" name="Shape 28"/>
          <p:cNvSpPr/>
          <p:nvPr/>
        </p:nvSpPr>
        <p:spPr>
          <a:xfrm>
            <a:off x="9286643" y="6086475"/>
            <a:ext cx="8029374" cy="1771650"/>
          </a:xfrm>
          <a:prstGeom prst="roundRect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9336648" y="6086475"/>
            <a:ext cx="0" cy="1771650"/>
          </a:xfrm>
          <a:prstGeom prst="line">
            <a:avLst/>
          </a:prstGeom>
          <a:solidFill>
            <a:srgbClr val="FFFFFF">
              <a:alpha val="0"/>
            </a:srgbClr>
          </a:solidFill>
          <a:ln w="66675">
            <a:solidFill>
              <a:srgbClr val="25A36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9700970" y="6343651"/>
            <a:ext cx="730073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Production, not slideware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9700970" y="6729413"/>
            <a:ext cx="7300730" cy="634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Runs on real provider keys — Groq, Kimi, Pinecone, Firecrawl, TabPFN, and Sarvam.</a:t>
            </a:r>
            <a:endParaRPr lang="en-US" sz="1725" dirty="0"/>
          </a:p>
        </p:txBody>
      </p:sp>
      <p:sp>
        <p:nvSpPr>
          <p:cNvPr id="34" name="Text 32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Live proof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81853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9143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10 — DEFI + RWA + AI CONVERGENCE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7" y="1085850"/>
            <a:ext cx="13144172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44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engine, three of Casper’s priorities.</a:t>
            </a:r>
            <a:endParaRPr lang="en-US" sz="4425" dirty="0"/>
          </a:p>
        </p:txBody>
      </p:sp>
      <p:sp>
        <p:nvSpPr>
          <p:cNvPr id="5" name="Shape 3"/>
          <p:cNvSpPr/>
          <p:nvPr/>
        </p:nvSpPr>
        <p:spPr>
          <a:xfrm>
            <a:off x="971526" y="2143126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7" y="2657475"/>
            <a:ext cx="5238470" cy="4572000"/>
          </a:xfrm>
          <a:prstGeom prst="roundRect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1527" y="2721770"/>
            <a:ext cx="5238470" cy="0"/>
          </a:xfrm>
          <a:prstGeom prst="line">
            <a:avLst/>
          </a:prstGeom>
          <a:solidFill>
            <a:srgbClr val="FFFFFF">
              <a:alpha val="0"/>
            </a:srgbClr>
          </a:solidFill>
          <a:ln w="85725">
            <a:solidFill>
              <a:srgbClr val="755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02853" y="2657475"/>
            <a:ext cx="0" cy="457200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1527" y="7222332"/>
            <a:ext cx="5238470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669" y="2657475"/>
            <a:ext cx="0" cy="457200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0130" y="3128963"/>
            <a:ext cx="4581261" cy="50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9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</a:t>
            </a:r>
            <a:endParaRPr lang="en-US" sz="2925" dirty="0"/>
          </a:p>
        </p:txBody>
      </p:sp>
      <p:sp>
        <p:nvSpPr>
          <p:cNvPr id="12" name="Text 10"/>
          <p:cNvSpPr/>
          <p:nvPr/>
        </p:nvSpPr>
        <p:spPr>
          <a:xfrm>
            <a:off x="1300130" y="3630365"/>
            <a:ext cx="4581261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Autonomous treasury rebalance, yield monitoring, and slippage/liquidity-aware execution.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24313" y="2657475"/>
            <a:ext cx="5238693" cy="4572000"/>
          </a:xfrm>
          <a:prstGeom prst="roundRect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24313" y="2721770"/>
            <a:ext cx="5238693" cy="0"/>
          </a:xfrm>
          <a:prstGeom prst="line">
            <a:avLst/>
          </a:prstGeom>
          <a:solidFill>
            <a:srgbClr val="FFFFFF">
              <a:alpha val="0"/>
            </a:srgbClr>
          </a:solidFill>
          <a:ln w="85725">
            <a:solidFill>
              <a:srgbClr val="755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755863" y="2657475"/>
            <a:ext cx="0" cy="457200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4313" y="7222332"/>
            <a:ext cx="5238693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31456" y="2657475"/>
            <a:ext cx="0" cy="457200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2919" y="3128963"/>
            <a:ext cx="4581485" cy="50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9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RWA-ready</a:t>
            </a:r>
            <a:endParaRPr lang="en-US" sz="2925" dirty="0"/>
          </a:p>
        </p:txBody>
      </p:sp>
      <p:sp>
        <p:nvSpPr>
          <p:cNvPr id="19" name="Text 17"/>
          <p:cNvSpPr/>
          <p:nvPr/>
        </p:nvSpPr>
        <p:spPr>
          <a:xfrm>
            <a:off x="6852919" y="3630365"/>
            <a:ext cx="45814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swarm is domain-agnostic — a 3-method adapter plugs in any real-world asset stream, already proven across 5G, cloud, and ICU domains.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077324" y="2657475"/>
            <a:ext cx="5238470" cy="4572000"/>
          </a:xfrm>
          <a:prstGeom prst="roundRect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77324" y="2721770"/>
            <a:ext cx="5238470" cy="0"/>
          </a:xfrm>
          <a:prstGeom prst="line">
            <a:avLst/>
          </a:prstGeom>
          <a:solidFill>
            <a:srgbClr val="FFFFFF">
              <a:alpha val="0"/>
            </a:srgbClr>
          </a:solidFill>
          <a:ln w="85725">
            <a:solidFill>
              <a:srgbClr val="755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308650" y="2657475"/>
            <a:ext cx="0" cy="457200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77324" y="7222332"/>
            <a:ext cx="5238470" cy="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84467" y="2657475"/>
            <a:ext cx="0" cy="4572000"/>
          </a:xfrm>
          <a:prstGeom prst="line">
            <a:avLst/>
          </a:prstGeom>
          <a:solidFill>
            <a:srgbClr val="FFFFFF">
              <a:alpha val="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405929" y="3128963"/>
            <a:ext cx="4581261" cy="50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9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Agentic AI</a:t>
            </a:r>
            <a:endParaRPr lang="en-US" sz="2925" dirty="0"/>
          </a:p>
        </p:txBody>
      </p:sp>
      <p:sp>
        <p:nvSpPr>
          <p:cNvPr id="26" name="Text 24"/>
          <p:cNvSpPr/>
          <p:nvPr/>
        </p:nvSpPr>
        <p:spPr>
          <a:xfrm>
            <a:off x="12405929" y="3630365"/>
            <a:ext cx="4581261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80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Self-healing, quorum, priced agent economy — the “how do agents act safely with real money” story.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2257368" y="7829551"/>
            <a:ext cx="13772805" cy="1052810"/>
          </a:xfrm>
          <a:prstGeom prst="roundRect">
            <a:avLst/>
          </a:prstGeom>
          <a:solidFill>
            <a:srgbClr val="132758">
              <a:alpha val="9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7603" y="8129588"/>
            <a:ext cx="277304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75" b="1" dirty="0">
                <a:solidFill>
                  <a:srgbClr val="BDE4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 × RWA × AI</a:t>
            </a:r>
            <a:endParaRPr lang="en-US" sz="2475" dirty="0"/>
          </a:p>
        </p:txBody>
      </p:sp>
      <p:sp>
        <p:nvSpPr>
          <p:cNvPr id="29" name="Text 27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Convergence story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777054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11 — WHY WE WIN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7" y="1085850"/>
            <a:ext cx="13144172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45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Defined failure behaviour is our moat.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71526" y="2114551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7" y="2514601"/>
            <a:ext cx="8015087" cy="2986088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8705" y="2843213"/>
            <a:ext cx="7300730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agent has a defined failure path</a:t>
            </a:r>
            <a:endParaRPr lang="en-US" sz="2475" dirty="0"/>
          </a:p>
        </p:txBody>
      </p:sp>
      <p:sp>
        <p:nvSpPr>
          <p:cNvPr id="8" name="Text 6"/>
          <p:cNvSpPr/>
          <p:nvPr/>
        </p:nvSpPr>
        <p:spPr>
          <a:xfrm>
            <a:off x="1328705" y="3267373"/>
            <a:ext cx="7300730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swarm never fully stops — it can re-plan, retry, roll back, or fail safely.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00931" y="2514601"/>
            <a:ext cx="8015087" cy="2986088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58109" y="2843213"/>
            <a:ext cx="7300730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Live, open-source, production-ready</a:t>
            </a:r>
            <a:endParaRPr lang="en-US" sz="2475" dirty="0"/>
          </a:p>
        </p:txBody>
      </p:sp>
      <p:sp>
        <p:nvSpPr>
          <p:cNvPr id="11" name="Text 9"/>
          <p:cNvSpPr/>
          <p:nvPr/>
        </p:nvSpPr>
        <p:spPr>
          <a:xfrm>
            <a:off x="9658109" y="3267372"/>
            <a:ext cx="7300730" cy="358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Judges can hit the URL now and inspect the code.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71527" y="5815013"/>
            <a:ext cx="8015087" cy="2986088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28705" y="6143626"/>
            <a:ext cx="7300730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 signals on the critical path</a:t>
            </a:r>
            <a:endParaRPr lang="en-US" sz="2475" dirty="0"/>
          </a:p>
        </p:txBody>
      </p:sp>
      <p:sp>
        <p:nvSpPr>
          <p:cNvPr id="14" name="Text 12"/>
          <p:cNvSpPr/>
          <p:nvPr/>
        </p:nvSpPr>
        <p:spPr>
          <a:xfrm>
            <a:off x="1328705" y="6567785"/>
            <a:ext cx="7300730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 LLM planning + real TabPFN risk + real Casper telemetry — no critical-path stubs.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300931" y="5815013"/>
            <a:ext cx="8015087" cy="2986088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58109" y="6143626"/>
            <a:ext cx="7300730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hard problems solved together</a:t>
            </a:r>
            <a:endParaRPr lang="en-US" sz="2475" dirty="0"/>
          </a:p>
        </p:txBody>
      </p:sp>
      <p:sp>
        <p:nvSpPr>
          <p:cNvPr id="17" name="Text 15"/>
          <p:cNvSpPr/>
          <p:nvPr/>
        </p:nvSpPr>
        <p:spPr>
          <a:xfrm>
            <a:off x="9658109" y="6567785"/>
            <a:ext cx="7300730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 safety through KAVACHA + agent economics through x402 + reputation.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Why we win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242285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12 — ROADMAP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6" y="1085850"/>
            <a:ext cx="1428714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82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demo-safe facades to live testnet execution.</a:t>
            </a:r>
            <a:endParaRPr lang="en-US" sz="3825" dirty="0"/>
          </a:p>
        </p:txBody>
      </p:sp>
      <p:sp>
        <p:nvSpPr>
          <p:cNvPr id="5" name="Shape 3"/>
          <p:cNvSpPr/>
          <p:nvPr/>
        </p:nvSpPr>
        <p:spPr>
          <a:xfrm>
            <a:off x="971526" y="2571751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71526" y="3057525"/>
            <a:ext cx="3893247" cy="4572000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242981" y="3386138"/>
            <a:ext cx="571485" cy="571500"/>
          </a:xfrm>
          <a:prstGeom prst="ellipse">
            <a:avLst/>
          </a:prstGeom>
          <a:solidFill>
            <a:srgbClr val="13275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242982" y="4157663"/>
            <a:ext cx="335033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Wire live providers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42982" y="4543425"/>
            <a:ext cx="3350336" cy="1184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CSPR.cloud, Casper MCP, CSPR.trade MCP, CSPR.click; keep deterministic fallback for stage demos.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5121941" y="3057525"/>
            <a:ext cx="3893247" cy="4572000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5393397" y="3386138"/>
            <a:ext cx="571485" cy="571500"/>
          </a:xfrm>
          <a:prstGeom prst="ellipse">
            <a:avLst/>
          </a:prstGeom>
          <a:solidFill>
            <a:srgbClr val="13275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393398" y="4157663"/>
            <a:ext cx="335033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 Odra contracts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393398" y="4543425"/>
            <a:ext cx="3350336" cy="888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 registry, treasury, governance, reputation on Casper testnet with explorer links.</a:t>
            </a:r>
            <a:endParaRPr lang="en-US" sz="1575" dirty="0"/>
          </a:p>
        </p:txBody>
      </p:sp>
      <p:sp>
        <p:nvSpPr>
          <p:cNvPr id="14" name="Shape 12"/>
          <p:cNvSpPr/>
          <p:nvPr/>
        </p:nvSpPr>
        <p:spPr>
          <a:xfrm>
            <a:off x="9272355" y="3057525"/>
            <a:ext cx="3893247" cy="4572000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9543812" y="3386138"/>
            <a:ext cx="571485" cy="571500"/>
          </a:xfrm>
          <a:prstGeom prst="ellipse">
            <a:avLst/>
          </a:prstGeom>
          <a:solidFill>
            <a:srgbClr val="13275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543812" y="4157663"/>
            <a:ext cx="335033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 real outcomes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43812" y="4543425"/>
            <a:ext cx="3350336" cy="888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Flush x402 payments, quorum votes, and KAVACHA vetoes to chain-visible transactions.</a:t>
            </a:r>
            <a:endParaRPr lang="en-US" sz="1575" dirty="0"/>
          </a:p>
        </p:txBody>
      </p:sp>
      <p:sp>
        <p:nvSpPr>
          <p:cNvPr id="18" name="Shape 16"/>
          <p:cNvSpPr/>
          <p:nvPr/>
        </p:nvSpPr>
        <p:spPr>
          <a:xfrm>
            <a:off x="13422771" y="3057525"/>
            <a:ext cx="3893247" cy="4572000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13694226" y="3386138"/>
            <a:ext cx="571485" cy="571500"/>
          </a:xfrm>
          <a:prstGeom prst="ellipse">
            <a:avLst/>
          </a:prstGeom>
          <a:solidFill>
            <a:srgbClr val="13275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3694227" y="4157663"/>
            <a:ext cx="335033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25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RWA adapters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3694227" y="4543425"/>
            <a:ext cx="3350336" cy="59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 a real-world asset feed end-to-end.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685983" y="8115301"/>
            <a:ext cx="12915578" cy="817067"/>
          </a:xfrm>
          <a:prstGeom prst="roundRect">
            <a:avLst/>
          </a:prstGeom>
          <a:solidFill>
            <a:srgbClr val="132758">
              <a:alpha val="9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BDE4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Execution path: providers → Odra contracts → on-chain outcomes → RWA adapters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Roadmap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858844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DDF1FF"/>
            </a:gs>
            <a:gs pos="52000">
              <a:srgbClr val="F0E9FF"/>
            </a:gs>
            <a:gs pos="100000">
              <a:srgbClr val="F9D9E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01440" y="514350"/>
            <a:ext cx="3000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426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</a:t>
            </a:r>
            <a:endParaRPr lang="en-US" sz="2475" dirty="0"/>
          </a:p>
        </p:txBody>
      </p:sp>
      <p:sp>
        <p:nvSpPr>
          <p:cNvPr id="3" name="Text 1"/>
          <p:cNvSpPr/>
          <p:nvPr/>
        </p:nvSpPr>
        <p:spPr>
          <a:xfrm>
            <a:off x="971526" y="600075"/>
            <a:ext cx="8858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75" b="1" dirty="0">
                <a:solidFill>
                  <a:srgbClr val="7558D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13 — TEAM, ASK &amp; LINKS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971527" y="1171575"/>
            <a:ext cx="10286744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5400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ERAYA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71526" y="2314576"/>
            <a:ext cx="1171545" cy="71438"/>
          </a:xfrm>
          <a:prstGeom prst="rect">
            <a:avLst/>
          </a:prstGeom>
          <a:solidFill>
            <a:srgbClr val="7558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1527" y="2886075"/>
            <a:ext cx="5238470" cy="47148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8705" y="3243263"/>
            <a:ext cx="4524113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Lead</a:t>
            </a:r>
            <a:endParaRPr lang="en-US" sz="2475" dirty="0"/>
          </a:p>
        </p:txBody>
      </p:sp>
      <p:sp>
        <p:nvSpPr>
          <p:cNvPr id="8" name="Text 6"/>
          <p:cNvSpPr/>
          <p:nvPr/>
        </p:nvSpPr>
        <p:spPr>
          <a:xfrm>
            <a:off x="1328705" y="3667423"/>
            <a:ext cx="4524113" cy="371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Pardeep Singh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28705" y="4038676"/>
            <a:ext cx="4524113" cy="371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sandhupardeep300@gmail.com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24313" y="2886075"/>
            <a:ext cx="5238693" cy="47148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81492" y="3243263"/>
            <a:ext cx="4524336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demo</a:t>
            </a:r>
            <a:endParaRPr lang="en-US" sz="2475" dirty="0"/>
          </a:p>
        </p:txBody>
      </p:sp>
      <p:sp>
        <p:nvSpPr>
          <p:cNvPr id="12" name="Text 10"/>
          <p:cNvSpPr/>
          <p:nvPr/>
        </p:nvSpPr>
        <p:spPr>
          <a:xfrm>
            <a:off x="6881492" y="3667423"/>
            <a:ext cx="4524336" cy="371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http://35.255.196.78/eraya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81492" y="4038675"/>
            <a:ext cx="4524336" cy="742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Public Casper DeFi console, swarm status, KAVACHA, and A2A feed.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077324" y="2886075"/>
            <a:ext cx="5238470" cy="4714875"/>
          </a:xfrm>
          <a:prstGeom prst="roundRect">
            <a:avLst/>
          </a:prstGeom>
          <a:solidFill>
            <a:srgbClr val="FFFFFF">
              <a:alpha val="70000"/>
            </a:srgbClr>
          </a:solidFill>
          <a:ln w="9525">
            <a:solidFill>
              <a:srgbClr val="7558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4503" y="3243263"/>
            <a:ext cx="4524113" cy="42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75" b="1" dirty="0">
                <a:solidFill>
                  <a:srgbClr val="1327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Repository</a:t>
            </a:r>
            <a:endParaRPr lang="en-US" sz="2475" dirty="0"/>
          </a:p>
        </p:txBody>
      </p:sp>
      <p:sp>
        <p:nvSpPr>
          <p:cNvPr id="16" name="Text 14"/>
          <p:cNvSpPr/>
          <p:nvPr/>
        </p:nvSpPr>
        <p:spPr>
          <a:xfrm>
            <a:off x="12434503" y="3667423"/>
            <a:ext cx="4524113" cy="371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github.com/martian3062/eraya_microsoft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434503" y="4038676"/>
            <a:ext cx="4524113" cy="371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dirty="0">
                <a:solidFill>
                  <a:srgbClr val="2439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branch caspr · open-source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71526" y="8001001"/>
            <a:ext cx="16344492" cy="1560017"/>
          </a:xfrm>
          <a:prstGeom prst="roundRect">
            <a:avLst/>
          </a:prstGeom>
          <a:solidFill>
            <a:srgbClr val="132758">
              <a:alpha val="9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57289" y="8343900"/>
            <a:ext cx="15372966" cy="50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925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</a:t>
            </a:r>
            <a:endParaRPr lang="en-US" sz="2925" dirty="0"/>
          </a:p>
        </p:txBody>
      </p:sp>
      <p:sp>
        <p:nvSpPr>
          <p:cNvPr id="20" name="Text 18"/>
          <p:cNvSpPr/>
          <p:nvPr/>
        </p:nvSpPr>
        <p:spPr>
          <a:xfrm>
            <a:off x="1457289" y="8845303"/>
            <a:ext cx="15372966" cy="37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25" dirty="0">
                <a:solidFill>
                  <a:srgbClr val="E9EC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Vote ERAYA Casper on CSPR.fans to advance to the Final Round — a live, self-healing agentic DeFi treasury built Casper-native.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971526" y="9544050"/>
            <a:ext cx="163444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350" dirty="0">
                <a:solidFill>
                  <a:srgbClr val="5C67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ERAYA Casper · Self-Healing Agentic DeFi Treasury Swarm · Casper Agentic Buildathon 2026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19197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61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4A510C-D9AC-4193-930F-18BC71043FC2}">
  <we:reference id="wa200010215" version="2.0.0.0" store="en-US" storeType="OMEX"/>
  <we:alternateReferences>
    <we:reference id="wa200010215" version="2.0.0.0" store="WA20001021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1453</Words>
  <Application>Microsoft Office PowerPoint</Application>
  <PresentationFormat>Custom</PresentationFormat>
  <Paragraphs>213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Evolet</dc:creator>
  <cp:lastModifiedBy>PARDEEP SINGH</cp:lastModifiedBy>
  <cp:revision>1</cp:revision>
  <dcterms:modified xsi:type="dcterms:W3CDTF">2026-07-04T06:12:52Z</dcterms:modified>
</cp:coreProperties>
</file>