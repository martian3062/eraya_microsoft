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5"/>
  </p:notesMasterIdLst>
  <p:sldIdLst>
    <p:sldId id="353" r:id="rId2"/>
    <p:sldId id="317" r:id="rId3"/>
    <p:sldId id="329" r:id="rId4"/>
    <p:sldId id="345" r:id="rId5"/>
    <p:sldId id="348" r:id="rId6"/>
    <p:sldId id="333" r:id="rId7"/>
    <p:sldId id="359" r:id="rId8"/>
    <p:sldId id="360" r:id="rId9"/>
    <p:sldId id="361" r:id="rId10"/>
    <p:sldId id="338" r:id="rId11"/>
    <p:sldId id="326" r:id="rId12"/>
    <p:sldId id="339" r:id="rId13"/>
    <p:sldId id="363" r:id="rId14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5F33D6-0CDE-48E9-8D08-8A4B72FD51BC}">
  <a:tblStyle styleId="{765F33D6-0CDE-48E9-8D08-8A4B72FD51B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0E907AF-2825-4FBA-9A93-92846E8BA34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4A142B"/>
            </a:gs>
            <a:gs pos="60000">
              <a:srgbClr val="2B0D1C"/>
            </a:gs>
            <a:gs pos="100000">
              <a:srgbClr val="150710"/>
            </a:gs>
          </a:gsLst>
          <a:path path="circle">
            <a:fillToRect l="25000" t="35000" r="75000" b="6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87083" y="542925"/>
            <a:ext cx="371465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850" b="1" dirty="0" err="1"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eraya</a:t>
            </a:r>
            <a:r>
              <a:rPr lang="en-US" sz="2850" b="1" dirty="0"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X </a:t>
            </a:r>
            <a:r>
              <a:rPr lang="en-US" sz="2850" b="1" dirty="0" err="1"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</a:t>
            </a:r>
            <a:r>
              <a:rPr lang="en-US" sz="2850" b="1" dirty="0" err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asper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1114397" y="971550"/>
            <a:ext cx="1185832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25" b="1" dirty="0">
                <a:solidFill>
                  <a:srgbClr val="D9649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Casper Agentic Buildathon 2026 · Final Round · Casper Innovation Track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1114397" y="1971675"/>
            <a:ext cx="11001101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42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ERAYA Casper — Self-Healing Agentic DeFi Treasury Swarm</a:t>
            </a:r>
            <a:endParaRPr lang="en-US" sz="4275" dirty="0"/>
          </a:p>
        </p:txBody>
      </p:sp>
      <p:sp>
        <p:nvSpPr>
          <p:cNvPr id="5" name="Shape 3"/>
          <p:cNvSpPr/>
          <p:nvPr/>
        </p:nvSpPr>
        <p:spPr>
          <a:xfrm>
            <a:off x="1114397" y="4829175"/>
            <a:ext cx="1314417" cy="85725"/>
          </a:xfrm>
          <a:prstGeom prst="rect">
            <a:avLst/>
          </a:prstGeom>
          <a:solidFill>
            <a:srgbClr val="D9649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39930" y="5672137"/>
            <a:ext cx="10286744" cy="1228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02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production, live agentic system — autonomous quant trading + deployed Odra contracts — at the convergence of Agentic AI × DeFi × RWA on Casper.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114397" y="6686550"/>
            <a:ext cx="10429614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025" b="1" i="1" dirty="0">
                <a:solidFill>
                  <a:srgbClr val="D9649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Quant Desk trades settle on-chain · KAVACHA before damage · x402 agent economy · Odra contracts LIVE on testnet.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2315517" y="2197917"/>
            <a:ext cx="4714757" cy="4857750"/>
          </a:xfrm>
          <a:prstGeom prst="roundRect">
            <a:avLst/>
          </a:prstGeom>
          <a:solidFill>
            <a:srgbClr val="D8CCD3">
              <a:alpha val="40000"/>
            </a:srgbClr>
          </a:solidFill>
          <a:ln w="19050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2715558" y="2643188"/>
            <a:ext cx="3914678" cy="42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 </a:t>
            </a:r>
            <a:r>
              <a:rPr lang="en-US" sz="2475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ERAYA</a:t>
            </a:r>
            <a:endParaRPr lang="en-US" sz="2475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2715558" y="3067348"/>
            <a:ext cx="3914678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 Lead:</a:t>
            </a:r>
          </a:p>
          <a:p>
            <a:pPr marL="0" indent="0" algn="l">
              <a:buNone/>
            </a:pPr>
            <a:endParaRPr lang="en-US" sz="1725" dirty="0"/>
          </a:p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Pardeep Singh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12715557" y="3954652"/>
            <a:ext cx="3914678" cy="339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highlight>
                  <a:srgbClr val="FF0000"/>
                </a:highlight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sandhupardeep300@gmail.com</a:t>
            </a:r>
            <a:endParaRPr lang="en-US" sz="1725" dirty="0">
              <a:highlight>
                <a:srgbClr val="FF0000"/>
              </a:highlight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715556" y="4547665"/>
            <a:ext cx="4314718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demo</a:t>
            </a:r>
          </a:p>
          <a:p>
            <a:pPr marL="0" indent="0" algn="l">
              <a:buNone/>
            </a:pPr>
            <a:endParaRPr lang="en-US" sz="1725" dirty="0">
              <a:solidFill>
                <a:srgbClr val="FFFFFF"/>
              </a:solidFill>
              <a:latin typeface="Helvetica Neue" pitchFamily="34" charset="0"/>
              <a:ea typeface="Helvetica Neue" pitchFamily="34" charset="-122"/>
              <a:cs typeface="Helvetica Neue" pitchFamily="34" charset="-120"/>
            </a:endParaRPr>
          </a:p>
          <a:p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https://eraya.online</a:t>
            </a:r>
            <a:endParaRPr lang="en-US" sz="1725" dirty="0">
              <a:solidFill>
                <a:schemeClr val="accent4">
                  <a:lumMod val="40000"/>
                  <a:lumOff val="60000"/>
                </a:schemeClr>
              </a:solidFill>
              <a:latin typeface="Helvetica Neue" pitchFamily="34" charset="0"/>
              <a:ea typeface="Helvetica Neue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715557" y="5802510"/>
            <a:ext cx="3914678" cy="339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Open-source on GitHub</a:t>
            </a:r>
          </a:p>
          <a:p>
            <a:pPr marL="0" indent="0" algn="l">
              <a:buNone/>
            </a:pPr>
            <a:endParaRPr lang="en-US" sz="1725" dirty="0">
              <a:latin typeface="Helvetica Neue" pitchFamily="34" charset="0"/>
              <a:ea typeface="Helvetica Neue" pitchFamily="34" charset="-122"/>
            </a:endParaRPr>
          </a:p>
          <a:p>
            <a:r>
              <a:rPr lang="en-US" sz="18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https://github.com/martian3062/eraya</a:t>
            </a:r>
          </a:p>
        </p:txBody>
      </p:sp>
      <p:sp>
        <p:nvSpPr>
          <p:cNvPr id="14" name="Text 12"/>
          <p:cNvSpPr/>
          <p:nvPr/>
        </p:nvSpPr>
        <p:spPr>
          <a:xfrm>
            <a:off x="1114397" y="9344025"/>
            <a:ext cx="1605874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ERAYA Casper · Self-Healing Agentic DeFi Treasury Swarm · Casper Agentic Buildathon 2026</a:t>
            </a:r>
            <a:endParaRPr lang="en-US" sz="15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8914B8B-C00A-6428-0915-999D6E363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648" y="2694793"/>
            <a:ext cx="4714756" cy="270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17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4A142B"/>
            </a:gs>
            <a:gs pos="60000">
              <a:srgbClr val="2B0D1C"/>
            </a:gs>
            <a:gs pos="100000">
              <a:srgbClr val="150710"/>
            </a:gs>
          </a:gsLst>
          <a:path path="circle">
            <a:fillToRect l="25000" t="35000" r="75000" b="6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01440" y="514350"/>
            <a:ext cx="30003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ERAYA Casper</a:t>
            </a:r>
            <a:endParaRPr lang="en-US" sz="2475" dirty="0"/>
          </a:p>
        </p:txBody>
      </p:sp>
      <p:sp>
        <p:nvSpPr>
          <p:cNvPr id="3" name="Text 1"/>
          <p:cNvSpPr/>
          <p:nvPr/>
        </p:nvSpPr>
        <p:spPr>
          <a:xfrm>
            <a:off x="971526" y="600075"/>
            <a:ext cx="742931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75" b="1" dirty="0">
                <a:solidFill>
                  <a:srgbClr val="D9649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2 — THE PROBLEM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71526" y="1057275"/>
            <a:ext cx="12144072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DeFi does not fail politely.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71526" y="2085976"/>
            <a:ext cx="1171545" cy="71438"/>
          </a:xfrm>
          <a:prstGeom prst="rect">
            <a:avLst/>
          </a:prstGeom>
          <a:solidFill>
            <a:srgbClr val="D9649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71527" y="2571751"/>
            <a:ext cx="8015087" cy="2986088"/>
          </a:xfrm>
          <a:prstGeom prst="roundRect">
            <a:avLst/>
          </a:prstGeom>
          <a:solidFill>
            <a:srgbClr val="D8CCD3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183" dist="794" dir="5400000" algn="bl" rotWithShape="0">
              <a:srgbClr val="303782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21530" y="2571751"/>
            <a:ext cx="0" cy="2986088"/>
          </a:xfrm>
          <a:prstGeom prst="line">
            <a:avLst/>
          </a:prstGeom>
          <a:solidFill>
            <a:srgbClr val="D8CCD3">
              <a:alpha val="40000"/>
            </a:srgbClr>
          </a:solidFill>
          <a:ln w="6667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443002" y="2886076"/>
            <a:ext cx="7172145" cy="42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Humans and single bots break</a:t>
            </a:r>
            <a:endParaRPr lang="en-US" sz="2475" dirty="0"/>
          </a:p>
        </p:txBody>
      </p:sp>
      <p:sp>
        <p:nvSpPr>
          <p:cNvPr id="9" name="Text 7"/>
          <p:cNvSpPr/>
          <p:nvPr/>
        </p:nvSpPr>
        <p:spPr>
          <a:xfrm>
            <a:off x="1443002" y="3310235"/>
            <a:ext cx="7172145" cy="76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02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Treasuries are run by humans or single “trade bots” — both break under adversarial, real-money conditions.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300931" y="2571751"/>
            <a:ext cx="8015087" cy="2986088"/>
          </a:xfrm>
          <a:prstGeom prst="roundRect">
            <a:avLst/>
          </a:prstGeom>
          <a:solidFill>
            <a:srgbClr val="D8CCD3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183" dist="794" dir="5400000" algn="bl" rotWithShape="0">
              <a:srgbClr val="303782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350936" y="2571751"/>
            <a:ext cx="0" cy="2986088"/>
          </a:xfrm>
          <a:prstGeom prst="line">
            <a:avLst/>
          </a:prstGeom>
          <a:solidFill>
            <a:srgbClr val="D8CCD3">
              <a:alpha val="40000"/>
            </a:srgbClr>
          </a:solidFill>
          <a:ln w="6667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772406" y="2886076"/>
            <a:ext cx="7172145" cy="42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Failure paths are not optional</a:t>
            </a:r>
            <a:endParaRPr lang="en-US" sz="2475" dirty="0"/>
          </a:p>
        </p:txBody>
      </p:sp>
      <p:sp>
        <p:nvSpPr>
          <p:cNvPr id="13" name="Text 11"/>
          <p:cNvSpPr/>
          <p:nvPr/>
        </p:nvSpPr>
        <p:spPr>
          <a:xfrm>
            <a:off x="9772406" y="3310235"/>
            <a:ext cx="7172145" cy="76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02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On-chain systems punish missing failure paths with irreversible loss, not just a bad log line.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971527" y="5872163"/>
            <a:ext cx="8015087" cy="2986088"/>
          </a:xfrm>
          <a:prstGeom prst="roundRect">
            <a:avLst/>
          </a:prstGeom>
          <a:solidFill>
            <a:srgbClr val="D8CCD3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183" dist="794" dir="5400000" algn="bl" rotWithShape="0">
              <a:srgbClr val="303782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021530" y="5872163"/>
            <a:ext cx="0" cy="2986088"/>
          </a:xfrm>
          <a:prstGeom prst="line">
            <a:avLst/>
          </a:prstGeom>
          <a:solidFill>
            <a:srgbClr val="D8CCD3">
              <a:alpha val="40000"/>
            </a:srgbClr>
          </a:solidFill>
          <a:ln w="6667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443002" y="6186488"/>
            <a:ext cx="7172145" cy="42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Happy-path demos are not enough</a:t>
            </a:r>
            <a:endParaRPr lang="en-US" sz="2475" dirty="0"/>
          </a:p>
        </p:txBody>
      </p:sp>
      <p:sp>
        <p:nvSpPr>
          <p:cNvPr id="17" name="Text 15"/>
          <p:cNvSpPr/>
          <p:nvPr/>
        </p:nvSpPr>
        <p:spPr>
          <a:xfrm>
            <a:off x="1443002" y="6610647"/>
            <a:ext cx="7172145" cy="76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02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Most agent demos optimise the happy path; none prove what happens when a fix itself fails.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9300931" y="5872163"/>
            <a:ext cx="8015087" cy="2986088"/>
          </a:xfrm>
          <a:prstGeom prst="roundRect">
            <a:avLst/>
          </a:prstGeom>
          <a:solidFill>
            <a:srgbClr val="D8CCD3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183" dist="794" dir="5400000" algn="bl" rotWithShape="0">
              <a:srgbClr val="303782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350936" y="5872163"/>
            <a:ext cx="0" cy="2986088"/>
          </a:xfrm>
          <a:prstGeom prst="line">
            <a:avLst/>
          </a:prstGeom>
          <a:solidFill>
            <a:srgbClr val="D8CCD3">
              <a:alpha val="40000"/>
            </a:srgbClr>
          </a:solidFill>
          <a:ln w="6667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772406" y="6186488"/>
            <a:ext cx="7172145" cy="42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Identity and review are missing</a:t>
            </a:r>
            <a:endParaRPr lang="en-US" sz="2475" dirty="0"/>
          </a:p>
        </p:txBody>
      </p:sp>
      <p:sp>
        <p:nvSpPr>
          <p:cNvPr id="21" name="Text 19"/>
          <p:cNvSpPr/>
          <p:nvPr/>
        </p:nvSpPr>
        <p:spPr>
          <a:xfrm>
            <a:off x="9772406" y="6610647"/>
            <a:ext cx="7172145" cy="76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02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on-chain agent identity, no economic signal for useful agent work, no adversarial review before high-stakes moves.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971526" y="9544050"/>
            <a:ext cx="1634449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ERAYA Casper · Problem framing · Casper Agentic Buildathon 2026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398871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4A142B"/>
            </a:gs>
            <a:gs pos="60000">
              <a:srgbClr val="2B0D1C"/>
            </a:gs>
            <a:gs pos="100000">
              <a:srgbClr val="150710"/>
            </a:gs>
          </a:gsLst>
          <a:path path="circle">
            <a:fillToRect l="25000" t="35000" r="75000" b="6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01440" y="514350"/>
            <a:ext cx="30003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ERAYA Casper</a:t>
            </a:r>
            <a:endParaRPr lang="en-US" sz="2475" dirty="0"/>
          </a:p>
        </p:txBody>
      </p:sp>
      <p:sp>
        <p:nvSpPr>
          <p:cNvPr id="3" name="Text 1"/>
          <p:cNvSpPr/>
          <p:nvPr/>
        </p:nvSpPr>
        <p:spPr>
          <a:xfrm>
            <a:off x="971527" y="600075"/>
            <a:ext cx="857228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75" b="1" dirty="0">
                <a:solidFill>
                  <a:srgbClr val="D9649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3 — THE SOLUTION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71526" y="1085850"/>
            <a:ext cx="14858628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82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ERAYA turns a DeFi treasury into an immune system.</a:t>
            </a:r>
            <a:endParaRPr lang="en-US" sz="3825" dirty="0"/>
          </a:p>
        </p:txBody>
      </p:sp>
      <p:sp>
        <p:nvSpPr>
          <p:cNvPr id="5" name="Shape 3"/>
          <p:cNvSpPr/>
          <p:nvPr/>
        </p:nvSpPr>
        <p:spPr>
          <a:xfrm>
            <a:off x="971526" y="2486026"/>
            <a:ext cx="1171545" cy="71438"/>
          </a:xfrm>
          <a:prstGeom prst="rect">
            <a:avLst/>
          </a:prstGeom>
          <a:solidFill>
            <a:srgbClr val="D9649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257269" y="2886075"/>
            <a:ext cx="5571986" cy="4857750"/>
          </a:xfrm>
          <a:prstGeom prst="roundRect">
            <a:avLst/>
          </a:prstGeom>
          <a:solidFill>
            <a:srgbClr val="5A2140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685884" y="3314700"/>
            <a:ext cx="4714757" cy="108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Self-healing treasury swarm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685884" y="4394745"/>
            <a:ext cx="4714757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800" dirty="0">
                <a:solidFill>
                  <a:srgbClr val="E9EC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 specialised AI agents share context, vote on high-stakes moves, and recover rather than failing closed.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72187" y="2771775"/>
            <a:ext cx="4671896" cy="2835399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872217" y="3043238"/>
            <a:ext cx="4071836" cy="372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Quorum before execution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7872217" y="3415829"/>
            <a:ext cx="4071836" cy="985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Specialised agents share context and vote on high-stakes moves before treasury action.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12501251" y="2771775"/>
            <a:ext cx="4671896" cy="2835399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2801281" y="3043238"/>
            <a:ext cx="4071836" cy="372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Recovery when fixes fail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12801281" y="3415829"/>
            <a:ext cx="4071836" cy="985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a remediation fails, the swarm re-plans and recovers — a real self-healing loop, not a script.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7572187" y="5864349"/>
            <a:ext cx="4671896" cy="2879601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872217" y="6135812"/>
            <a:ext cx="4071836" cy="372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KAVACHA before damage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7872217" y="6508403"/>
            <a:ext cx="4071836" cy="985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Security-first by design: KAVACHA blocks unsafe actions and injection before damage.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12501251" y="5864349"/>
            <a:ext cx="4671896" cy="2879601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2801281" y="6135812"/>
            <a:ext cx="4071836" cy="745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x402 + autonomous Quant Desk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12801281" y="6880994"/>
            <a:ext cx="4071836" cy="656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x402 prices inter-agent work; the swarm trades with one user knob — risk — and settles every fill on Casper.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971526" y="9544050"/>
            <a:ext cx="1634449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ERAYA Casper · Solution architecture · Casper Agentic Buildathon 2026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846820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4A142B"/>
            </a:gs>
            <a:gs pos="60000">
              <a:srgbClr val="2B0D1C"/>
            </a:gs>
            <a:gs pos="100000">
              <a:srgbClr val="150710"/>
            </a:gs>
          </a:gsLst>
          <a:path path="circle">
            <a:fillToRect l="25000" t="35000" r="75000" b="6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01440" y="514350"/>
            <a:ext cx="30003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ERAYA Casper</a:t>
            </a:r>
            <a:endParaRPr lang="en-US" sz="2475" dirty="0"/>
          </a:p>
        </p:txBody>
      </p:sp>
      <p:sp>
        <p:nvSpPr>
          <p:cNvPr id="3" name="Text 1"/>
          <p:cNvSpPr/>
          <p:nvPr/>
        </p:nvSpPr>
        <p:spPr>
          <a:xfrm>
            <a:off x="971526" y="600075"/>
            <a:ext cx="885802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75" b="1" dirty="0">
                <a:solidFill>
                  <a:srgbClr val="D9649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4 — HOW IT WORKS &amp; ARCHITECTURE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71526" y="1085850"/>
            <a:ext cx="14287143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Perceiver → Planner → Recoverer → Guardian, over an A2A bus.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971526" y="2486026"/>
            <a:ext cx="1171545" cy="71438"/>
          </a:xfrm>
          <a:prstGeom prst="rect">
            <a:avLst/>
          </a:prstGeom>
          <a:solidFill>
            <a:srgbClr val="D9649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71526" y="2928938"/>
            <a:ext cx="3893247" cy="2257425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214408" y="3171826"/>
            <a:ext cx="3407484" cy="411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Perceiver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14408" y="3583037"/>
            <a:ext cx="3407484" cy="888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7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Reads Casper DeFi signals + risk features using TabPFN 3 tabular scoring.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5121941" y="2928938"/>
            <a:ext cx="3893247" cy="2257425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364822" y="3171826"/>
            <a:ext cx="3407484" cy="411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Planner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364822" y="3583037"/>
            <a:ext cx="3407484" cy="888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7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 cascade — Groq → Kimi → local HF — generates risk-adjusted rebalance actions.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9272355" y="2928938"/>
            <a:ext cx="3893247" cy="2257425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515237" y="3171826"/>
            <a:ext cx="3407484" cy="411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Recoverer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515237" y="3583037"/>
            <a:ext cx="3407484" cy="59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7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Keeps rollback and retry paths ready; drives the self-healing reroute.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13422771" y="2928938"/>
            <a:ext cx="3893247" cy="2257425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3665653" y="3171826"/>
            <a:ext cx="3407484" cy="411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Guardian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665653" y="3583037"/>
            <a:ext cx="3407484" cy="888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7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KAVACHA blocks unsafe actions, verifies A2A identity, and writes signed audit.</a:t>
            </a:r>
            <a:endParaRPr lang="en-US" sz="1575" dirty="0"/>
          </a:p>
        </p:txBody>
      </p:sp>
      <p:sp>
        <p:nvSpPr>
          <p:cNvPr id="18" name="Shape 16"/>
          <p:cNvSpPr/>
          <p:nvPr/>
        </p:nvSpPr>
        <p:spPr>
          <a:xfrm>
            <a:off x="1314418" y="5543550"/>
            <a:ext cx="15658709" cy="628650"/>
          </a:xfrm>
          <a:prstGeom prst="roundRect">
            <a:avLst/>
          </a:prstGeom>
          <a:solidFill>
            <a:srgbClr val="5A2140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HMAC-signed A2A bus · shared context · quorum gates · ErayaGraph memory (Pinecone)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65200" y="8166100"/>
            <a:ext cx="16344900" cy="1231900"/>
          </a:xfrm>
          <a:prstGeom prst="roundRect">
            <a:avLst/>
          </a:prstGeom>
          <a:solidFill>
            <a:srgbClr val="D8CCD3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016000" y="8166100"/>
            <a:ext cx="0" cy="1231900"/>
          </a:xfrm>
          <a:prstGeom prst="line">
            <a:avLst/>
          </a:prstGeom>
          <a:solidFill>
            <a:srgbClr val="D8CCD3">
              <a:alpha val="40000"/>
            </a:srgbClr>
          </a:solidFill>
          <a:ln w="6667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397000" y="8293100"/>
            <a:ext cx="1524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3-tier cascade: never fails silently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397000" y="8724900"/>
            <a:ext cx="1524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GPU/LLM → CPU models (TabPFN, XGBoost) → deterministic rules.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71526" y="9544050"/>
            <a:ext cx="1634449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ERAYA Casper · Agent archetypes · Casper Agentic Buildathon 2026</a:t>
            </a:r>
            <a:endParaRPr lang="en-US" sz="1350" dirty="0"/>
          </a:p>
        </p:txBody>
      </p:sp>
      <p:sp>
        <p:nvSpPr>
          <p:cNvPr id="200" name="ArchCard"/>
          <p:cNvSpPr/>
          <p:nvPr/>
        </p:nvSpPr>
        <p:spPr>
          <a:xfrm>
            <a:off x="965200" y="6413500"/>
            <a:ext cx="3898900" cy="1498600"/>
          </a:xfrm>
          <a:prstGeom prst="roundRect">
            <a:avLst>
              <a:gd name="adj" fmla="val 8000"/>
            </a:avLst>
          </a:prstGeom>
          <a:solidFill>
            <a:srgbClr val="5A2140"/>
          </a:solidFill>
          <a:ln w="12700">
            <a:solidFill>
              <a:srgbClr val="D9649B">
                <a:alpha val="60000"/>
              </a:srgbClr>
            </a:solidFill>
          </a:ln>
        </p:spPr>
        <p:txBody>
          <a:bodyPr lIns="182880" tIns="118872" rIns="146304" bIns="91440" anchor="t"/>
          <a:lstStyle/>
          <a:p>
            <a:pPr>
              <a:buNone/>
            </a:pPr>
            <a:r>
              <a:rPr lang="en-US" sz="1500" b="1" dirty="0">
                <a:solidFill>
                  <a:srgbClr val="FFFFFF"/>
                </a:solidFill>
              </a:rPr>
              <a:t>Frontend</a:t>
            </a:r>
          </a:p>
          <a:p>
            <a:pPr>
              <a:buNone/>
            </a:pPr>
            <a:r>
              <a:rPr lang="en-US" sz="1400" dirty="0">
                <a:solidFill>
                  <a:srgbClr val="EED7E4"/>
                </a:solidFill>
              </a:rPr>
              <a:t>Live console — dashboard · wallet · Quant Desk · KAVACHA · x402.</a:t>
            </a:r>
          </a:p>
        </p:txBody>
      </p:sp>
      <p:sp>
        <p:nvSpPr>
          <p:cNvPr id="201" name="ArchCard"/>
          <p:cNvSpPr/>
          <p:nvPr/>
        </p:nvSpPr>
        <p:spPr>
          <a:xfrm>
            <a:off x="5118100" y="6413500"/>
            <a:ext cx="3898900" cy="1498600"/>
          </a:xfrm>
          <a:prstGeom prst="roundRect">
            <a:avLst>
              <a:gd name="adj" fmla="val 8000"/>
            </a:avLst>
          </a:prstGeom>
          <a:solidFill>
            <a:srgbClr val="5A2140"/>
          </a:solidFill>
          <a:ln w="12700">
            <a:solidFill>
              <a:srgbClr val="D9649B">
                <a:alpha val="60000"/>
              </a:srgbClr>
            </a:solidFill>
          </a:ln>
        </p:spPr>
        <p:txBody>
          <a:bodyPr lIns="182880" tIns="118872" rIns="146304" bIns="91440" anchor="t"/>
          <a:lstStyle/>
          <a:p>
            <a:pPr>
              <a:buNone/>
            </a:pPr>
            <a:r>
              <a:rPr lang="en-US" sz="1500" b="1" dirty="0">
                <a:solidFill>
                  <a:srgbClr val="FFFFFF"/>
                </a:solidFill>
              </a:rPr>
              <a:t>Backend</a:t>
            </a:r>
          </a:p>
          <a:p>
            <a:pPr>
              <a:buNone/>
            </a:pPr>
            <a:r>
              <a:rPr lang="en-US" sz="1400" dirty="0">
                <a:solidFill>
                  <a:srgbClr val="EED7E4"/>
                </a:solidFill>
              </a:rPr>
              <a:t>Django + Channels — REST/WebSocket, audit log, domain registry.</a:t>
            </a:r>
          </a:p>
        </p:txBody>
      </p:sp>
      <p:sp>
        <p:nvSpPr>
          <p:cNvPr id="202" name="ArchCard"/>
          <p:cNvSpPr/>
          <p:nvPr/>
        </p:nvSpPr>
        <p:spPr>
          <a:xfrm>
            <a:off x="9271000" y="6413500"/>
            <a:ext cx="3898900" cy="1498600"/>
          </a:xfrm>
          <a:prstGeom prst="roundRect">
            <a:avLst>
              <a:gd name="adj" fmla="val 8000"/>
            </a:avLst>
          </a:prstGeom>
          <a:solidFill>
            <a:srgbClr val="5A2140"/>
          </a:solidFill>
          <a:ln w="12700">
            <a:solidFill>
              <a:srgbClr val="D9649B">
                <a:alpha val="60000"/>
              </a:srgbClr>
            </a:solidFill>
          </a:ln>
        </p:spPr>
        <p:txBody>
          <a:bodyPr lIns="182880" tIns="118872" rIns="146304" bIns="91440" anchor="t"/>
          <a:lstStyle/>
          <a:p>
            <a:pPr>
              <a:buNone/>
            </a:pPr>
            <a:r>
              <a:rPr lang="en-US" sz="1500" b="1" dirty="0">
                <a:solidFill>
                  <a:srgbClr val="FFFFFF"/>
                </a:solidFill>
              </a:rPr>
              <a:t>Casper layer</a:t>
            </a:r>
          </a:p>
          <a:p>
            <a:pPr>
              <a:buNone/>
            </a:pPr>
            <a:r>
              <a:rPr lang="en-US" sz="1400" dirty="0">
                <a:solidFill>
                  <a:srgbClr val="EED7E4"/>
                </a:solidFill>
              </a:rPr>
              <a:t>DEPLOYED Odra contracts (AgentRegistry · TradePolicy) · x402 · testnet settlement.</a:t>
            </a:r>
          </a:p>
        </p:txBody>
      </p:sp>
      <p:sp>
        <p:nvSpPr>
          <p:cNvPr id="203" name="ArchCard"/>
          <p:cNvSpPr/>
          <p:nvPr/>
        </p:nvSpPr>
        <p:spPr>
          <a:xfrm>
            <a:off x="13423900" y="6413500"/>
            <a:ext cx="3898900" cy="1498600"/>
          </a:xfrm>
          <a:prstGeom prst="roundRect">
            <a:avLst>
              <a:gd name="adj" fmla="val 8000"/>
            </a:avLst>
          </a:prstGeom>
          <a:solidFill>
            <a:srgbClr val="5A2140"/>
          </a:solidFill>
          <a:ln w="12700">
            <a:solidFill>
              <a:srgbClr val="D9649B">
                <a:alpha val="60000"/>
              </a:srgbClr>
            </a:solidFill>
          </a:ln>
        </p:spPr>
        <p:txBody>
          <a:bodyPr lIns="182880" tIns="118872" rIns="146304" bIns="91440" anchor="t"/>
          <a:lstStyle/>
          <a:p>
            <a:pPr>
              <a:buNone/>
            </a:pPr>
            <a:r>
              <a:rPr lang="en-US" sz="1500" b="1" dirty="0">
                <a:solidFill>
                  <a:srgbClr val="FFFFFF"/>
                </a:solidFill>
              </a:rPr>
              <a:t>Observability</a:t>
            </a:r>
          </a:p>
          <a:p>
            <a:pPr>
              <a:buNone/>
            </a:pPr>
            <a:r>
              <a:rPr lang="en-US" sz="1400" dirty="0">
                <a:solidFill>
                  <a:srgbClr val="EED7E4"/>
                </a:solidFill>
              </a:rPr>
              <a:t>OpenTelemetry traces on every cascade tier.</a:t>
            </a:r>
          </a:p>
        </p:txBody>
      </p:sp>
    </p:spTree>
    <p:extLst>
      <p:ext uri="{BB962C8B-B14F-4D97-AF65-F5344CB8AC3E}">
        <p14:creationId xmlns:p14="http://schemas.microsoft.com/office/powerpoint/2010/main" val="2286194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4A142B"/>
            </a:gs>
            <a:gs pos="60000">
              <a:srgbClr val="2B0D1C"/>
            </a:gs>
            <a:gs pos="100000">
              <a:srgbClr val="150710"/>
            </a:gs>
          </a:gsLst>
          <a:path path="circle">
            <a:fillToRect l="25000" t="35000" r="75000" b="6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Kicker"/>
          <p:cNvSpPr txBox="1"/>
          <p:nvPr/>
        </p:nvSpPr>
        <p:spPr>
          <a:xfrm>
            <a:off x="508000" y="228600"/>
            <a:ext cx="8890000" cy="381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1500" b="1" spc="200" dirty="0">
                <a:solidFill>
                  <a:srgbClr val="D9649B"/>
                </a:solidFill>
              </a:rPr>
              <a:t>SLIDE 5 — SELF-HEALING LOOP · SIGNAL TO SETTLEMENT</a:t>
            </a:r>
          </a:p>
        </p:txBody>
      </p:sp>
      <p:sp>
        <p:nvSpPr>
          <p:cNvPr id="101" name="Node"/>
          <p:cNvSpPr/>
          <p:nvPr/>
        </p:nvSpPr>
        <p:spPr>
          <a:xfrm>
            <a:off x="965200" y="1016000"/>
            <a:ext cx="2921000" cy="1016000"/>
          </a:xfrm>
          <a:prstGeom prst="roundRect">
            <a:avLst>
              <a:gd name="adj" fmla="val 14000"/>
            </a:avLst>
          </a:prstGeom>
          <a:solidFill>
            <a:srgbClr val="F6E3EF"/>
          </a:solidFill>
          <a:ln w="12700">
            <a:solidFill>
              <a:srgbClr val="D9649B"/>
            </a:solidFill>
          </a:ln>
          <a:effectLst>
            <a:outerShdw blurRad="76200" dist="25400" dir="5400000" rotWithShape="0">
              <a:srgbClr val="000000">
                <a:alpha val="35000"/>
              </a:srgbClr>
            </a:outerShdw>
          </a:effectLst>
        </p:spPr>
        <p:txBody>
          <a:bodyPr lIns="45720" tIns="18288" rIns="45720" bIns="18288" anchor="ctr"/>
          <a:lstStyle/>
          <a:p>
            <a:pPr algn="ctr">
              <a:buNone/>
            </a:pPr>
            <a:r>
              <a:rPr lang="en-US" sz="1700" b="1" dirty="0">
                <a:solidFill>
                  <a:srgbClr val="5A2140"/>
                </a:solidFill>
              </a:rPr>
              <a:t>Live signals</a:t>
            </a:r>
          </a:p>
          <a:p>
            <a:pPr algn="ctr">
              <a:buNone/>
            </a:pPr>
            <a:r>
              <a:rPr lang="en-US" sz="1400" dirty="0">
                <a:solidFill>
                  <a:srgbClr val="8A3B63"/>
                </a:solidFill>
              </a:rPr>
              <a:t>prices · mempool · governance</a:t>
            </a:r>
          </a:p>
        </p:txBody>
      </p:sp>
      <p:sp>
        <p:nvSpPr>
          <p:cNvPr id="102" name="Node"/>
          <p:cNvSpPr/>
          <p:nvPr/>
        </p:nvSpPr>
        <p:spPr>
          <a:xfrm>
            <a:off x="4191000" y="1016000"/>
            <a:ext cx="3175000" cy="1016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649B"/>
            </a:solidFill>
          </a:ln>
          <a:effectLst>
            <a:outerShdw blurRad="76200" dist="25400" dir="5400000" rotWithShape="0">
              <a:srgbClr val="000000">
                <a:alpha val="35000"/>
              </a:srgbClr>
            </a:outerShdw>
          </a:effectLst>
        </p:spPr>
        <p:txBody>
          <a:bodyPr lIns="45720" tIns="18288" rIns="45720" bIns="18288" anchor="ctr"/>
          <a:lstStyle/>
          <a:p>
            <a:pPr algn="ctr">
              <a:buNone/>
            </a:pPr>
            <a:r>
              <a:rPr lang="en-US" sz="1700" b="1" dirty="0">
                <a:solidFill>
                  <a:srgbClr val="5A2140"/>
                </a:solidFill>
              </a:rPr>
              <a:t>PERCEIVER</a:t>
            </a:r>
          </a:p>
          <a:p>
            <a:pPr algn="ctr">
              <a:buNone/>
            </a:pPr>
            <a:r>
              <a:rPr lang="en-US" sz="1400" dirty="0">
                <a:solidFill>
                  <a:srgbClr val="8A3B63"/>
                </a:solidFill>
              </a:rPr>
              <a:t>TabPFN risk · z-score anomaly</a:t>
            </a:r>
          </a:p>
        </p:txBody>
      </p:sp>
      <p:sp>
        <p:nvSpPr>
          <p:cNvPr id="103" name="Node"/>
          <p:cNvSpPr/>
          <p:nvPr/>
        </p:nvSpPr>
        <p:spPr>
          <a:xfrm>
            <a:off x="7747000" y="635000"/>
            <a:ext cx="2794000" cy="1778000"/>
          </a:xfrm>
          <a:prstGeom prst="diamond">
            <a:avLst/>
          </a:prstGeom>
          <a:solidFill>
            <a:srgbClr val="FCE3F2"/>
          </a:solidFill>
          <a:ln w="12700">
            <a:solidFill>
              <a:srgbClr val="D9649B"/>
            </a:solidFill>
          </a:ln>
          <a:effectLst>
            <a:outerShdw blurRad="76200" dist="25400" dir="5400000" rotWithShape="0">
              <a:srgbClr val="000000">
                <a:alpha val="35000"/>
              </a:srgbClr>
            </a:outerShdw>
          </a:effectLst>
        </p:spPr>
        <p:txBody>
          <a:bodyPr lIns="45720" tIns="18288" rIns="45720" bIns="18288" anchor="ctr"/>
          <a:lstStyle/>
          <a:p>
            <a:pPr algn="ctr">
              <a:buNone/>
            </a:pPr>
            <a:r>
              <a:rPr lang="en-US" sz="1700" b="1" dirty="0">
                <a:solidFill>
                  <a:srgbClr val="5A2140"/>
                </a:solidFill>
              </a:rPr>
              <a:t>Actionable</a:t>
            </a:r>
          </a:p>
          <a:p>
            <a:pPr algn="ctr">
              <a:buNone/>
            </a:pPr>
            <a:r>
              <a:rPr lang="en-US" sz="1400" dirty="0">
                <a:solidFill>
                  <a:srgbClr val="8A3B63"/>
                </a:solidFill>
              </a:rPr>
              <a:t>signal?</a:t>
            </a:r>
          </a:p>
        </p:txBody>
      </p:sp>
      <p:sp>
        <p:nvSpPr>
          <p:cNvPr id="104" name="Node"/>
          <p:cNvSpPr/>
          <p:nvPr/>
        </p:nvSpPr>
        <p:spPr>
          <a:xfrm>
            <a:off x="10795000" y="1016000"/>
            <a:ext cx="3048000" cy="1016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649B"/>
            </a:solidFill>
          </a:ln>
          <a:effectLst>
            <a:outerShdw blurRad="76200" dist="25400" dir="5400000" rotWithShape="0">
              <a:srgbClr val="000000">
                <a:alpha val="35000"/>
              </a:srgbClr>
            </a:outerShdw>
          </a:effectLst>
        </p:spPr>
        <p:txBody>
          <a:bodyPr lIns="45720" tIns="18288" rIns="45720" bIns="18288" anchor="ctr"/>
          <a:lstStyle/>
          <a:p>
            <a:pPr algn="ctr">
              <a:buNone/>
            </a:pPr>
            <a:r>
              <a:rPr lang="en-US" sz="1700" b="1" dirty="0">
                <a:solidFill>
                  <a:srgbClr val="5A2140"/>
                </a:solidFill>
              </a:rPr>
              <a:t>PLANNER</a:t>
            </a:r>
          </a:p>
          <a:p>
            <a:pPr algn="ctr">
              <a:buNone/>
            </a:pPr>
            <a:r>
              <a:rPr lang="en-US" sz="1400" dirty="0">
                <a:solidFill>
                  <a:srgbClr val="8A3B63"/>
                </a:solidFill>
              </a:rPr>
              <a:t>LLM cascade: Groq → Kimi → local</a:t>
            </a:r>
          </a:p>
        </p:txBody>
      </p:sp>
      <p:sp>
        <p:nvSpPr>
          <p:cNvPr id="105" name="Node"/>
          <p:cNvSpPr/>
          <p:nvPr/>
        </p:nvSpPr>
        <p:spPr>
          <a:xfrm>
            <a:off x="14147800" y="1016000"/>
            <a:ext cx="3175000" cy="1016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649B"/>
            </a:solidFill>
          </a:ln>
          <a:effectLst>
            <a:outerShdw blurRad="76200" dist="25400" dir="5400000" rotWithShape="0">
              <a:srgbClr val="000000">
                <a:alpha val="35000"/>
              </a:srgbClr>
            </a:outerShdw>
          </a:effectLst>
        </p:spPr>
        <p:txBody>
          <a:bodyPr lIns="45720" tIns="18288" rIns="45720" bIns="18288" anchor="ctr"/>
          <a:lstStyle/>
          <a:p>
            <a:pPr algn="ctr">
              <a:buNone/>
            </a:pPr>
            <a:r>
              <a:rPr lang="en-US" sz="1700" b="1" dirty="0">
                <a:solidFill>
                  <a:srgbClr val="5A2140"/>
                </a:solidFill>
              </a:rPr>
              <a:t>Action plan</a:t>
            </a:r>
          </a:p>
          <a:p>
            <a:pPr algn="ctr">
              <a:buNone/>
            </a:pPr>
            <a:r>
              <a:rPr lang="en-US" sz="1400" dirty="0">
                <a:solidFill>
                  <a:srgbClr val="8A3B63"/>
                </a:solidFill>
              </a:rPr>
              <a:t>quant ensemble · sized to volatility</a:t>
            </a:r>
          </a:p>
        </p:txBody>
      </p:sp>
      <p:sp>
        <p:nvSpPr>
          <p:cNvPr id="106" name="Node"/>
          <p:cNvSpPr/>
          <p:nvPr/>
        </p:nvSpPr>
        <p:spPr>
          <a:xfrm>
            <a:off x="7366000" y="3556000"/>
            <a:ext cx="3556000" cy="889000"/>
          </a:xfrm>
          <a:prstGeom prst="roundRect">
            <a:avLst>
              <a:gd name="adj" fmla="val 14000"/>
            </a:avLst>
          </a:prstGeom>
          <a:solidFill>
            <a:srgbClr val="F6E3EF"/>
          </a:solidFill>
          <a:ln w="12700">
            <a:solidFill>
              <a:srgbClr val="D9649B"/>
            </a:solidFill>
          </a:ln>
          <a:effectLst>
            <a:outerShdw blurRad="76200" dist="25400" dir="5400000" rotWithShape="0">
              <a:srgbClr val="000000">
                <a:alpha val="35000"/>
              </a:srgbClr>
            </a:outerShdw>
          </a:effectLst>
        </p:spPr>
        <p:txBody>
          <a:bodyPr lIns="45720" tIns="18288" rIns="45720" bIns="18288" anchor="ctr"/>
          <a:lstStyle/>
          <a:p>
            <a:pPr algn="ctr">
              <a:buNone/>
            </a:pPr>
            <a:r>
              <a:rPr lang="en-US" sz="1700" b="1" dirty="0">
                <a:solidFill>
                  <a:srgbClr val="5A2140"/>
                </a:solidFill>
              </a:rPr>
              <a:t>Keep watching</a:t>
            </a:r>
          </a:p>
          <a:p>
            <a:pPr algn="ctr">
              <a:buNone/>
            </a:pPr>
            <a:r>
              <a:rPr lang="en-US" sz="1400" dirty="0">
                <a:solidFill>
                  <a:srgbClr val="8A3B63"/>
                </a:solidFill>
              </a:rPr>
              <a:t>baseline updated — no action</a:t>
            </a:r>
          </a:p>
        </p:txBody>
      </p:sp>
      <p:sp>
        <p:nvSpPr>
          <p:cNvPr id="107" name="Node"/>
          <p:cNvSpPr/>
          <p:nvPr/>
        </p:nvSpPr>
        <p:spPr>
          <a:xfrm>
            <a:off x="14147800" y="6096000"/>
            <a:ext cx="3175000" cy="1016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649B"/>
            </a:solidFill>
          </a:ln>
          <a:effectLst>
            <a:outerShdw blurRad="76200" dist="25400" dir="5400000" rotWithShape="0">
              <a:srgbClr val="000000">
                <a:alpha val="35000"/>
              </a:srgbClr>
            </a:outerShdw>
          </a:effectLst>
        </p:spPr>
        <p:txBody>
          <a:bodyPr lIns="45720" tIns="18288" rIns="45720" bIns="18288" anchor="ctr"/>
          <a:lstStyle/>
          <a:p>
            <a:pPr algn="ctr">
              <a:buNone/>
            </a:pPr>
            <a:r>
              <a:rPr lang="en-US" sz="1700" b="1" dirty="0">
                <a:solidFill>
                  <a:srgbClr val="5A2140"/>
                </a:solidFill>
              </a:rPr>
              <a:t>GUARDIAN · KAVACHA</a:t>
            </a:r>
          </a:p>
          <a:p>
            <a:pPr algn="ctr">
              <a:buNone/>
            </a:pPr>
            <a:r>
              <a:rPr lang="en-US" sz="1400" dirty="0">
                <a:solidFill>
                  <a:srgbClr val="8A3B63"/>
                </a:solidFill>
              </a:rPr>
              <a:t>policy envelope · HMAC audit</a:t>
            </a:r>
          </a:p>
        </p:txBody>
      </p:sp>
      <p:sp>
        <p:nvSpPr>
          <p:cNvPr id="108" name="Node"/>
          <p:cNvSpPr/>
          <p:nvPr/>
        </p:nvSpPr>
        <p:spPr>
          <a:xfrm>
            <a:off x="10795000" y="5715000"/>
            <a:ext cx="2794000" cy="1778000"/>
          </a:xfrm>
          <a:prstGeom prst="diamond">
            <a:avLst/>
          </a:prstGeom>
          <a:solidFill>
            <a:srgbClr val="FCE3F2"/>
          </a:solidFill>
          <a:ln w="12700">
            <a:solidFill>
              <a:srgbClr val="D9649B"/>
            </a:solidFill>
          </a:ln>
          <a:effectLst>
            <a:outerShdw blurRad="76200" dist="25400" dir="5400000" rotWithShape="0">
              <a:srgbClr val="000000">
                <a:alpha val="35000"/>
              </a:srgbClr>
            </a:outerShdw>
          </a:effectLst>
        </p:spPr>
        <p:txBody>
          <a:bodyPr lIns="45720" tIns="18288" rIns="45720" bIns="18288" anchor="ctr"/>
          <a:lstStyle/>
          <a:p>
            <a:pPr algn="ctr">
              <a:buNone/>
            </a:pPr>
            <a:r>
              <a:rPr lang="en-US" sz="1700" b="1" dirty="0">
                <a:solidFill>
                  <a:srgbClr val="5A2140"/>
                </a:solidFill>
              </a:rPr>
              <a:t>Guardian</a:t>
            </a:r>
          </a:p>
          <a:p>
            <a:pPr algn="ctr">
              <a:buNone/>
            </a:pPr>
            <a:r>
              <a:rPr lang="en-US" sz="1400" dirty="0">
                <a:solidFill>
                  <a:srgbClr val="8A3B63"/>
                </a:solidFill>
              </a:rPr>
              <a:t>approves?</a:t>
            </a:r>
          </a:p>
        </p:txBody>
      </p:sp>
      <p:sp>
        <p:nvSpPr>
          <p:cNvPr id="109" name="Node"/>
          <p:cNvSpPr/>
          <p:nvPr/>
        </p:nvSpPr>
        <p:spPr>
          <a:xfrm>
            <a:off x="6350000" y="6096000"/>
            <a:ext cx="3175000" cy="1016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649B"/>
            </a:solidFill>
          </a:ln>
          <a:effectLst>
            <a:outerShdw blurRad="76200" dist="25400" dir="5400000" rotWithShape="0">
              <a:srgbClr val="000000">
                <a:alpha val="35000"/>
              </a:srgbClr>
            </a:outerShdw>
          </a:effectLst>
        </p:spPr>
        <p:txBody>
          <a:bodyPr lIns="45720" tIns="18288" rIns="45720" bIns="18288" anchor="ctr"/>
          <a:lstStyle/>
          <a:p>
            <a:pPr algn="ctr">
              <a:buNone/>
            </a:pPr>
            <a:r>
              <a:rPr lang="en-US" sz="1700" b="1" dirty="0">
                <a:solidFill>
                  <a:srgbClr val="5A2140"/>
                </a:solidFill>
              </a:rPr>
              <a:t>RECOVERER executes</a:t>
            </a:r>
          </a:p>
          <a:p>
            <a:pPr algn="ctr">
              <a:buNone/>
            </a:pPr>
            <a:r>
              <a:rPr lang="en-US" sz="1400" dirty="0">
                <a:solidFill>
                  <a:srgbClr val="8A3B63"/>
                </a:solidFill>
              </a:rPr>
              <a:t>fill at live price · rollback staged</a:t>
            </a:r>
          </a:p>
        </p:txBody>
      </p:sp>
      <p:sp>
        <p:nvSpPr>
          <p:cNvPr id="110" name="Node"/>
          <p:cNvSpPr/>
          <p:nvPr/>
        </p:nvSpPr>
        <p:spPr>
          <a:xfrm>
            <a:off x="2667000" y="6096000"/>
            <a:ext cx="3175000" cy="1016000"/>
          </a:xfrm>
          <a:prstGeom prst="roundRect">
            <a:avLst>
              <a:gd name="adj" fmla="val 14000"/>
            </a:avLst>
          </a:prstGeom>
          <a:solidFill>
            <a:srgbClr val="F6E3EF"/>
          </a:solidFill>
          <a:ln w="12700">
            <a:solidFill>
              <a:srgbClr val="D9649B"/>
            </a:solidFill>
          </a:ln>
          <a:effectLst>
            <a:outerShdw blurRad="76200" dist="25400" dir="5400000" rotWithShape="0">
              <a:srgbClr val="000000">
                <a:alpha val="35000"/>
              </a:srgbClr>
            </a:outerShdw>
          </a:effectLst>
        </p:spPr>
        <p:txBody>
          <a:bodyPr lIns="45720" tIns="18288" rIns="45720" bIns="18288" anchor="ctr"/>
          <a:lstStyle/>
          <a:p>
            <a:pPr algn="ctr">
              <a:buNone/>
            </a:pPr>
            <a:r>
              <a:rPr lang="en-US" sz="1700" b="1" dirty="0">
                <a:solidFill>
                  <a:srgbClr val="5A2140"/>
                </a:solidFill>
              </a:rPr>
              <a:t>Settled on-chain</a:t>
            </a:r>
          </a:p>
          <a:p>
            <a:pPr algn="ctr">
              <a:buNone/>
            </a:pPr>
            <a:r>
              <a:rPr lang="en-US" sz="1400" dirty="0">
                <a:solidFill>
                  <a:srgbClr val="8A3B63"/>
                </a:solidFill>
              </a:rPr>
              <a:t>Casper testnet · cspr.live proof</a:t>
            </a:r>
          </a:p>
        </p:txBody>
      </p:sp>
      <p:sp>
        <p:nvSpPr>
          <p:cNvPr id="111" name="Node"/>
          <p:cNvSpPr/>
          <p:nvPr/>
        </p:nvSpPr>
        <p:spPr>
          <a:xfrm>
            <a:off x="10414000" y="8636000"/>
            <a:ext cx="3556000" cy="889000"/>
          </a:xfrm>
          <a:prstGeom prst="roundRect">
            <a:avLst>
              <a:gd name="adj" fmla="val 14000"/>
            </a:avLst>
          </a:prstGeom>
          <a:solidFill>
            <a:srgbClr val="F6E3EF"/>
          </a:solidFill>
          <a:ln w="12700">
            <a:solidFill>
              <a:srgbClr val="D9649B"/>
            </a:solidFill>
          </a:ln>
          <a:effectLst>
            <a:outerShdw blurRad="76200" dist="25400" dir="5400000" rotWithShape="0">
              <a:srgbClr val="000000">
                <a:alpha val="35000"/>
              </a:srgbClr>
            </a:outerShdw>
          </a:effectLst>
        </p:spPr>
        <p:txBody>
          <a:bodyPr lIns="45720" tIns="18288" rIns="45720" bIns="18288" anchor="ctr"/>
          <a:lstStyle/>
          <a:p>
            <a:pPr algn="ctr">
              <a:buNone/>
            </a:pPr>
            <a:r>
              <a:rPr lang="en-US" sz="1700" b="1" dirty="0">
                <a:solidFill>
                  <a:srgbClr val="5A2140"/>
                </a:solidFill>
              </a:rPr>
              <a:t>Re-plan</a:t>
            </a:r>
          </a:p>
          <a:p>
            <a:pPr algn="ctr">
              <a:buNone/>
            </a:pPr>
            <a:r>
              <a:rPr lang="en-US" sz="1400" dirty="0">
                <a:solidFill>
                  <a:srgbClr val="8A3B63"/>
                </a:solidFill>
              </a:rPr>
              <a:t>drop a cascade tier — never silent</a:t>
            </a:r>
          </a:p>
        </p:txBody>
      </p:sp>
      <p:cxnSp>
        <p:nvCxnSpPr>
          <p:cNvPr id="112" name="Conn"/>
          <p:cNvCxnSpPr/>
          <p:nvPr/>
        </p:nvCxnSpPr>
        <p:spPr>
          <a:xfrm>
            <a:off x="3886200" y="1524000"/>
            <a:ext cx="304800" cy="0"/>
          </a:xfrm>
          <a:prstGeom prst="line">
            <a:avLst/>
          </a:prstGeom>
          <a:ln w="19050">
            <a:solidFill>
              <a:srgbClr val="D9649B"/>
            </a:solidFill>
            <a:headEnd type="none"/>
            <a:tailEnd type="triangle" w="med" len="med"/>
          </a:ln>
        </p:spPr>
      </p:cxnSp>
      <p:cxnSp>
        <p:nvCxnSpPr>
          <p:cNvPr id="113" name="Conn"/>
          <p:cNvCxnSpPr/>
          <p:nvPr/>
        </p:nvCxnSpPr>
        <p:spPr>
          <a:xfrm>
            <a:off x="7366000" y="1524000"/>
            <a:ext cx="381000" cy="0"/>
          </a:xfrm>
          <a:prstGeom prst="line">
            <a:avLst/>
          </a:prstGeom>
          <a:ln w="19050">
            <a:solidFill>
              <a:srgbClr val="D9649B"/>
            </a:solidFill>
            <a:headEnd type="none"/>
            <a:tailEnd type="triangle" w="med" len="med"/>
          </a:ln>
        </p:spPr>
      </p:cxnSp>
      <p:cxnSp>
        <p:nvCxnSpPr>
          <p:cNvPr id="114" name="Conn"/>
          <p:cNvCxnSpPr/>
          <p:nvPr/>
        </p:nvCxnSpPr>
        <p:spPr>
          <a:xfrm>
            <a:off x="10541000" y="1524000"/>
            <a:ext cx="254000" cy="0"/>
          </a:xfrm>
          <a:prstGeom prst="line">
            <a:avLst/>
          </a:prstGeom>
          <a:ln w="19050">
            <a:solidFill>
              <a:srgbClr val="D9649B"/>
            </a:solidFill>
            <a:headEnd type="none"/>
            <a:tailEnd type="triangle" w="med" len="med"/>
          </a:ln>
        </p:spPr>
      </p:cxnSp>
      <p:cxnSp>
        <p:nvCxnSpPr>
          <p:cNvPr id="115" name="Conn"/>
          <p:cNvCxnSpPr/>
          <p:nvPr/>
        </p:nvCxnSpPr>
        <p:spPr>
          <a:xfrm>
            <a:off x="13843000" y="1524000"/>
            <a:ext cx="304800" cy="0"/>
          </a:xfrm>
          <a:prstGeom prst="line">
            <a:avLst/>
          </a:prstGeom>
          <a:ln w="19050">
            <a:solidFill>
              <a:srgbClr val="D9649B"/>
            </a:solidFill>
            <a:headEnd type="none"/>
            <a:tailEnd type="triangle" w="med" len="med"/>
          </a:ln>
        </p:spPr>
      </p:cxnSp>
      <p:cxnSp>
        <p:nvCxnSpPr>
          <p:cNvPr id="116" name="Conn"/>
          <p:cNvCxnSpPr/>
          <p:nvPr/>
        </p:nvCxnSpPr>
        <p:spPr>
          <a:xfrm>
            <a:off x="9144000" y="2413000"/>
            <a:ext cx="0" cy="1143000"/>
          </a:xfrm>
          <a:prstGeom prst="line">
            <a:avLst/>
          </a:prstGeom>
          <a:ln w="19050">
            <a:solidFill>
              <a:srgbClr val="D9649B"/>
            </a:solidFill>
            <a:headEnd type="none"/>
            <a:tailEnd type="triangle" w="med" len="med"/>
          </a:ln>
        </p:spPr>
      </p:cxnSp>
      <p:cxnSp>
        <p:nvCxnSpPr>
          <p:cNvPr id="117" name="Conn"/>
          <p:cNvCxnSpPr/>
          <p:nvPr/>
        </p:nvCxnSpPr>
        <p:spPr>
          <a:xfrm>
            <a:off x="15735300" y="2032000"/>
            <a:ext cx="0" cy="4064000"/>
          </a:xfrm>
          <a:prstGeom prst="line">
            <a:avLst/>
          </a:prstGeom>
          <a:ln w="19050">
            <a:solidFill>
              <a:srgbClr val="D9649B"/>
            </a:solidFill>
            <a:headEnd type="none"/>
            <a:tailEnd type="triangle" w="med" len="med"/>
          </a:ln>
        </p:spPr>
      </p:cxnSp>
      <p:cxnSp>
        <p:nvCxnSpPr>
          <p:cNvPr id="118" name="Conn"/>
          <p:cNvCxnSpPr/>
          <p:nvPr/>
        </p:nvCxnSpPr>
        <p:spPr>
          <a:xfrm>
            <a:off x="13589000" y="6604000"/>
            <a:ext cx="558800" cy="0"/>
          </a:xfrm>
          <a:prstGeom prst="line">
            <a:avLst/>
          </a:prstGeom>
          <a:ln w="19050">
            <a:solidFill>
              <a:srgbClr val="D9649B"/>
            </a:solidFill>
            <a:headEnd type="triangle" w="med" len="med"/>
            <a:tailEnd type="none"/>
          </a:ln>
        </p:spPr>
      </p:cxnSp>
      <p:cxnSp>
        <p:nvCxnSpPr>
          <p:cNvPr id="119" name="Conn"/>
          <p:cNvCxnSpPr/>
          <p:nvPr/>
        </p:nvCxnSpPr>
        <p:spPr>
          <a:xfrm>
            <a:off x="9525000" y="6604000"/>
            <a:ext cx="1270000" cy="0"/>
          </a:xfrm>
          <a:prstGeom prst="line">
            <a:avLst/>
          </a:prstGeom>
          <a:ln w="19050">
            <a:solidFill>
              <a:srgbClr val="D9649B"/>
            </a:solidFill>
            <a:headEnd type="triangle" w="med" len="med"/>
            <a:tailEnd type="none"/>
          </a:ln>
        </p:spPr>
      </p:cxnSp>
      <p:cxnSp>
        <p:nvCxnSpPr>
          <p:cNvPr id="120" name="Conn"/>
          <p:cNvCxnSpPr/>
          <p:nvPr/>
        </p:nvCxnSpPr>
        <p:spPr>
          <a:xfrm>
            <a:off x="5842000" y="6604000"/>
            <a:ext cx="508000" cy="0"/>
          </a:xfrm>
          <a:prstGeom prst="line">
            <a:avLst/>
          </a:prstGeom>
          <a:ln w="19050">
            <a:solidFill>
              <a:srgbClr val="D9649B"/>
            </a:solidFill>
            <a:headEnd type="triangle" w="med" len="med"/>
            <a:tailEnd type="none"/>
          </a:ln>
        </p:spPr>
      </p:cxnSp>
      <p:cxnSp>
        <p:nvCxnSpPr>
          <p:cNvPr id="121" name="Conn"/>
          <p:cNvCxnSpPr/>
          <p:nvPr/>
        </p:nvCxnSpPr>
        <p:spPr>
          <a:xfrm>
            <a:off x="12192000" y="7493000"/>
            <a:ext cx="0" cy="1143000"/>
          </a:xfrm>
          <a:prstGeom prst="line">
            <a:avLst/>
          </a:prstGeom>
          <a:ln w="19050">
            <a:solidFill>
              <a:srgbClr val="D9649B"/>
            </a:solidFill>
            <a:headEnd type="none"/>
            <a:tailEnd type="triangle" w="med" len="med"/>
          </a:ln>
        </p:spPr>
      </p:cxnSp>
      <p:sp>
        <p:nvSpPr>
          <p:cNvPr id="122" name="Label"/>
          <p:cNvSpPr/>
          <p:nvPr/>
        </p:nvSpPr>
        <p:spPr>
          <a:xfrm>
            <a:off x="10236200" y="1168400"/>
            <a:ext cx="736600" cy="355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9649B"/>
            </a:solidFill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C13472"/>
                </a:solidFill>
              </a:rPr>
              <a:t>YES</a:t>
            </a:r>
          </a:p>
        </p:txBody>
      </p:sp>
      <p:sp>
        <p:nvSpPr>
          <p:cNvPr id="123" name="Label"/>
          <p:cNvSpPr/>
          <p:nvPr/>
        </p:nvSpPr>
        <p:spPr>
          <a:xfrm>
            <a:off x="8801100" y="2692400"/>
            <a:ext cx="685800" cy="355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9649B"/>
            </a:solidFill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C13472"/>
                </a:solidFill>
              </a:rPr>
              <a:t>NO</a:t>
            </a:r>
          </a:p>
        </p:txBody>
      </p:sp>
      <p:sp>
        <p:nvSpPr>
          <p:cNvPr id="124" name="Label"/>
          <p:cNvSpPr/>
          <p:nvPr/>
        </p:nvSpPr>
        <p:spPr>
          <a:xfrm>
            <a:off x="9499600" y="6172200"/>
            <a:ext cx="1320800" cy="355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9649B"/>
            </a:solidFill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C13472"/>
                </a:solidFill>
              </a:rPr>
              <a:t>YES · execute</a:t>
            </a:r>
          </a:p>
        </p:txBody>
      </p:sp>
      <p:sp>
        <p:nvSpPr>
          <p:cNvPr id="125" name="Label"/>
          <p:cNvSpPr/>
          <p:nvPr/>
        </p:nvSpPr>
        <p:spPr>
          <a:xfrm>
            <a:off x="12420600" y="7772400"/>
            <a:ext cx="1397000" cy="355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9649B"/>
            </a:solidFill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C13472"/>
                </a:solidFill>
              </a:rPr>
              <a:t>NO · veto</a:t>
            </a:r>
          </a:p>
        </p:txBody>
      </p:sp>
    </p:spTree>
    <p:extLst>
      <p:ext uri="{BB962C8B-B14F-4D97-AF65-F5344CB8AC3E}">
        <p14:creationId xmlns:p14="http://schemas.microsoft.com/office/powerpoint/2010/main" val="3242976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4A142B"/>
            </a:gs>
            <a:gs pos="60000">
              <a:srgbClr val="2B0D1C"/>
            </a:gs>
            <a:gs pos="100000">
              <a:srgbClr val="150710"/>
            </a:gs>
          </a:gsLst>
          <a:path path="circle">
            <a:fillToRect l="25000" t="35000" r="75000" b="6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01440" y="514350"/>
            <a:ext cx="30003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ERAYA Casper</a:t>
            </a:r>
            <a:endParaRPr lang="en-US" sz="2475" dirty="0"/>
          </a:p>
        </p:txBody>
      </p:sp>
      <p:sp>
        <p:nvSpPr>
          <p:cNvPr id="3" name="Text 1"/>
          <p:cNvSpPr/>
          <p:nvPr/>
        </p:nvSpPr>
        <p:spPr>
          <a:xfrm>
            <a:off x="971526" y="600075"/>
            <a:ext cx="885802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75" b="1" dirty="0">
                <a:solidFill>
                  <a:srgbClr val="D9649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6 — CASPER INTEGRATION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71526" y="1085850"/>
            <a:ext cx="12858429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Casper-native, not Casper-adjacent.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71526" y="2114551"/>
            <a:ext cx="1171545" cy="71438"/>
          </a:xfrm>
          <a:prstGeom prst="rect">
            <a:avLst/>
          </a:prstGeom>
          <a:solidFill>
            <a:srgbClr val="D9649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71527" y="2486025"/>
            <a:ext cx="8816507" cy="6486525"/>
          </a:xfrm>
          <a:prstGeom prst="roundRect">
            <a:avLst/>
          </a:prstGeom>
          <a:solidFill>
            <a:srgbClr val="5A2140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566" y="2857501"/>
            <a:ext cx="8016426" cy="502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casper_defi domain adapter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371566" y="3360242"/>
            <a:ext cx="80164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800" dirty="0">
                <a:solidFill>
                  <a:srgbClr val="E9EC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CSPR.cloud / CSPR.trade-shaped telemetry: pool TVL, APY, gas, slippage, liquidity depth, governance quorum, validator uptime, and mempool.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566" y="4274642"/>
            <a:ext cx="1100333" cy="49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pool TVL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86197" y="4274642"/>
            <a:ext cx="677523" cy="49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78017" y="4274642"/>
            <a:ext cx="614124" cy="49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06438" y="4274642"/>
            <a:ext cx="1058366" cy="49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slippage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79101" y="4274642"/>
            <a:ext cx="1586990" cy="49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liquidity depth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80385" y="4274642"/>
            <a:ext cx="2116506" cy="49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governance quorum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566" y="4884094"/>
            <a:ext cx="1756872" cy="49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validator uptime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42735" y="4884094"/>
            <a:ext cx="1132256" cy="49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mempool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102350" y="2486025"/>
            <a:ext cx="3492537" cy="3287688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373806" y="2757488"/>
            <a:ext cx="2949626" cy="372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x402-aware A2A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10373806" y="3130079"/>
            <a:ext cx="2949626" cy="634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Paid inter-agent requests via X402EnabledBus.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13823481" y="2486025"/>
            <a:ext cx="3492537" cy="3287688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4094937" y="2757488"/>
            <a:ext cx="2949626" cy="372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CSPR.click + MCP</a:t>
            </a:r>
            <a:endParaRPr lang="en-US" sz="2175" dirty="0"/>
          </a:p>
        </p:txBody>
      </p:sp>
      <p:sp>
        <p:nvSpPr>
          <p:cNvPr id="22" name="Text 20"/>
          <p:cNvSpPr/>
          <p:nvPr/>
        </p:nvSpPr>
        <p:spPr>
          <a:xfrm>
            <a:off x="14094937" y="3130079"/>
            <a:ext cx="2949626" cy="126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CSPR.click wallet + Casper MCP facades — demo-safe today, provider URLs ready to go live.</a:t>
            </a:r>
            <a:endParaRPr lang="en-US" sz="1725" dirty="0"/>
          </a:p>
        </p:txBody>
      </p:sp>
      <p:sp>
        <p:nvSpPr>
          <p:cNvPr id="23" name="Shape 21"/>
          <p:cNvSpPr/>
          <p:nvPr/>
        </p:nvSpPr>
        <p:spPr>
          <a:xfrm>
            <a:off x="10102350" y="6002313"/>
            <a:ext cx="3492537" cy="3378200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0373806" y="6273776"/>
            <a:ext cx="2949626" cy="372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Odra contracts — LIVE</a:t>
            </a:r>
            <a:endParaRPr lang="en-US" sz="2175" dirty="0"/>
          </a:p>
        </p:txBody>
      </p:sp>
      <p:sp>
        <p:nvSpPr>
          <p:cNvPr id="25" name="Text 23"/>
          <p:cNvSpPr/>
          <p:nvPr/>
        </p:nvSpPr>
        <p:spPr>
          <a:xfrm>
            <a:off x="10373806" y="7061200"/>
            <a:ext cx="2949626" cy="95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DEPLOYED on testnet: AgentRegistry (4 agents registered on-chain) + TradePolicy (risk envelope computed in-contract) — cspr.live packages 0f31a5ec… · 6b252f67…</a:t>
            </a:r>
            <a:endParaRPr lang="en-US" sz="1725" dirty="0"/>
          </a:p>
        </p:txBody>
      </p:sp>
      <p:sp>
        <p:nvSpPr>
          <p:cNvPr id="26" name="Shape 24"/>
          <p:cNvSpPr/>
          <p:nvPr/>
        </p:nvSpPr>
        <p:spPr>
          <a:xfrm>
            <a:off x="13823481" y="6002313"/>
            <a:ext cx="3492537" cy="3378200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4094937" y="6273776"/>
            <a:ext cx="2949626" cy="372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Reputation batches</a:t>
            </a:r>
            <a:endParaRPr lang="en-US" sz="2175" dirty="0"/>
          </a:p>
        </p:txBody>
      </p:sp>
      <p:sp>
        <p:nvSpPr>
          <p:cNvPr id="28" name="Text 26"/>
          <p:cNvSpPr/>
          <p:nvPr/>
        </p:nvSpPr>
        <p:spPr>
          <a:xfrm>
            <a:off x="14094937" y="6646367"/>
            <a:ext cx="2949626" cy="634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Reputation data is shaped for on-chain anchoring.</a:t>
            </a:r>
            <a:endParaRPr lang="en-US" sz="1725" dirty="0"/>
          </a:p>
        </p:txBody>
      </p:sp>
      <p:sp>
        <p:nvSpPr>
          <p:cNvPr id="29" name="Text 27"/>
          <p:cNvSpPr/>
          <p:nvPr/>
        </p:nvSpPr>
        <p:spPr>
          <a:xfrm>
            <a:off x="971526" y="9544050"/>
            <a:ext cx="1634449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ERAYA Casper · Casper integration · Track-critical proof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789697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4A142B"/>
            </a:gs>
            <a:gs pos="60000">
              <a:srgbClr val="2B0D1C"/>
            </a:gs>
            <a:gs pos="100000">
              <a:srgbClr val="150710"/>
            </a:gs>
          </a:gsLst>
          <a:path path="circle">
            <a:fillToRect l="25000" t="35000" r="75000" b="6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01440" y="514350"/>
            <a:ext cx="30003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ERAYA Casper</a:t>
            </a:r>
            <a:endParaRPr lang="en-US" sz="2475" dirty="0"/>
          </a:p>
        </p:txBody>
      </p:sp>
      <p:sp>
        <p:nvSpPr>
          <p:cNvPr id="3" name="Text 1"/>
          <p:cNvSpPr/>
          <p:nvPr/>
        </p:nvSpPr>
        <p:spPr>
          <a:xfrm>
            <a:off x="971526" y="600075"/>
            <a:ext cx="885802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75" b="1" dirty="0">
                <a:solidFill>
                  <a:srgbClr val="D9649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7 — AGENTIC AI STACK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71527" y="1085850"/>
            <a:ext cx="147157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priced, audited, voting swarm — not a single DEX-calling agent.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971526" y="2571751"/>
            <a:ext cx="1171545" cy="71438"/>
          </a:xfrm>
          <a:prstGeom prst="rect">
            <a:avLst/>
          </a:prstGeom>
          <a:solidFill>
            <a:srgbClr val="D9649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71527" y="2914650"/>
            <a:ext cx="8015087" cy="5886450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28705" y="3271838"/>
            <a:ext cx="7300730" cy="462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 cascade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328705" y="4038600"/>
            <a:ext cx="485763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85914" y="4114800"/>
            <a:ext cx="2172539" cy="331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Groq (llama-3.3-70b)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8705" y="4775200"/>
            <a:ext cx="485763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85914" y="4851400"/>
            <a:ext cx="3011462" cy="331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Kimi for long-context planning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8705" y="5511800"/>
            <a:ext cx="485763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85913" y="5588000"/>
            <a:ext cx="2871939" cy="331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 Hugging Face fallback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33500" y="6070600"/>
            <a:ext cx="7302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provider is a graceful-fallback facade — the demo never breaks if a key/service is down. The same principle runs below Tier 1: CPU models (TabPFN · XGBoost · Kalman), then deterministic rules / CVXPY. Every capability degrades tier-by-tier — never silently.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300931" y="2914651"/>
            <a:ext cx="8015087" cy="1491035"/>
          </a:xfrm>
          <a:prstGeom prst="roundRect">
            <a:avLst/>
          </a:prstGeom>
          <a:solidFill>
            <a:srgbClr val="D8CCD3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350936" y="2914651"/>
            <a:ext cx="0" cy="1491035"/>
          </a:xfrm>
          <a:prstGeom prst="line">
            <a:avLst/>
          </a:prstGeom>
          <a:solidFill>
            <a:srgbClr val="D8CCD3">
              <a:alpha val="40000"/>
            </a:srgbClr>
          </a:solidFill>
          <a:ln w="6667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686684" y="3143251"/>
            <a:ext cx="734359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Risk brain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686684" y="3529013"/>
            <a:ext cx="7343592" cy="634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TabPFN 3 tabular foundation model (live, hosted) scores DeFi risk with zero training.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9300931" y="4591423"/>
            <a:ext cx="8015087" cy="1173584"/>
          </a:xfrm>
          <a:prstGeom prst="roundRect">
            <a:avLst/>
          </a:prstGeom>
          <a:solidFill>
            <a:srgbClr val="D8CCD3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350936" y="4591423"/>
            <a:ext cx="0" cy="1173584"/>
          </a:xfrm>
          <a:prstGeom prst="line">
            <a:avLst/>
          </a:prstGeom>
          <a:solidFill>
            <a:srgbClr val="D8CCD3">
              <a:alpha val="40000"/>
            </a:srgbClr>
          </a:solidFill>
          <a:ln w="6667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686684" y="4820023"/>
            <a:ext cx="734359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Memory / RAG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686684" y="5205785"/>
            <a:ext cx="7343592" cy="31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Pinecone vector store (ErayaGraph) · CyborgDB encrypted memory · Firecrawl ingestion.</a:t>
            </a:r>
          </a:p>
        </p:txBody>
      </p:sp>
      <p:sp>
        <p:nvSpPr>
          <p:cNvPr id="23" name="Shape 21"/>
          <p:cNvSpPr/>
          <p:nvPr/>
        </p:nvSpPr>
        <p:spPr>
          <a:xfrm>
            <a:off x="9300931" y="5950744"/>
            <a:ext cx="8015087" cy="1491035"/>
          </a:xfrm>
          <a:prstGeom prst="roundRect">
            <a:avLst/>
          </a:prstGeom>
          <a:solidFill>
            <a:srgbClr val="D8CCD3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350936" y="5950744"/>
            <a:ext cx="0" cy="1491035"/>
          </a:xfrm>
          <a:prstGeom prst="line">
            <a:avLst/>
          </a:prstGeom>
          <a:solidFill>
            <a:srgbClr val="D8CCD3">
              <a:alpha val="40000"/>
            </a:srgbClr>
          </a:solidFill>
          <a:ln w="6667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686684" y="6179344"/>
            <a:ext cx="734359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Quant trading engine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686684" y="6565108"/>
            <a:ext cx="7343592" cy="634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Gate.io / KuCoin / CoinGecko candles · SMA/RSI/Bollinger/momentum + Fear &amp; Greed (contrarian) ensemble · vol-targeted sizing · voice risk dial (Whisper in, ElevenLabs out).</a:t>
            </a:r>
          </a:p>
        </p:txBody>
      </p:sp>
      <p:sp>
        <p:nvSpPr>
          <p:cNvPr id="27" name="Shape 25"/>
          <p:cNvSpPr/>
          <p:nvPr/>
        </p:nvSpPr>
        <p:spPr>
          <a:xfrm>
            <a:off x="9300931" y="7627517"/>
            <a:ext cx="8015087" cy="1173584"/>
          </a:xfrm>
          <a:prstGeom prst="roundRect">
            <a:avLst/>
          </a:prstGeom>
          <a:solidFill>
            <a:srgbClr val="D8CCD3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9350936" y="7627517"/>
            <a:ext cx="0" cy="1173584"/>
          </a:xfrm>
          <a:prstGeom prst="line">
            <a:avLst/>
          </a:prstGeom>
          <a:solidFill>
            <a:srgbClr val="D8CCD3">
              <a:alpha val="40000"/>
            </a:srgbClr>
          </a:solidFill>
          <a:ln w="6667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9686684" y="7856117"/>
            <a:ext cx="734359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Economic signal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9686684" y="8241879"/>
            <a:ext cx="7343592" cy="31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x402 prices inter-agent work — external agents buy the swarm's live quant signal over HTTP 402 (swarm-for-hire).</a:t>
            </a:r>
            <a:endParaRPr lang="en-US" sz="1725" dirty="0"/>
          </a:p>
        </p:txBody>
      </p:sp>
      <p:sp>
        <p:nvSpPr>
          <p:cNvPr id="31" name="Text 29"/>
          <p:cNvSpPr/>
          <p:nvPr/>
        </p:nvSpPr>
        <p:spPr>
          <a:xfrm>
            <a:off x="971526" y="9544050"/>
            <a:ext cx="1634449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ERAYA Casper · Agentic AI stack · Casper Agentic Buildathon 2026</a:t>
            </a:r>
            <a:endParaRPr lang="en-US" sz="1350" dirty="0"/>
          </a:p>
        </p:txBody>
      </p:sp>
      <p:sp>
        <p:nvSpPr>
          <p:cNvPr id="300" name="Text Runtime"/>
          <p:cNvSpPr txBox="1"/>
          <p:nvPr/>
        </p:nvSpPr>
        <p:spPr>
          <a:xfrm>
            <a:off x="1333500" y="7569200"/>
            <a:ext cx="7302500" cy="1016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Helvetica Neue" pitchFamily="34" charset="0"/>
              </a:rPr>
              <a:t>MCP server — 8 live tools Claude can call · OpenTelemetry spans on every cascade tier → Jaeger.</a:t>
            </a:r>
          </a:p>
        </p:txBody>
      </p:sp>
    </p:spTree>
    <p:extLst>
      <p:ext uri="{BB962C8B-B14F-4D97-AF65-F5344CB8AC3E}">
        <p14:creationId xmlns:p14="http://schemas.microsoft.com/office/powerpoint/2010/main" val="3408606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4A142B"/>
            </a:gs>
            <a:gs pos="60000">
              <a:srgbClr val="2B0D1C"/>
            </a:gs>
            <a:gs pos="100000">
              <a:srgbClr val="150710"/>
            </a:gs>
          </a:gsLst>
          <a:path path="circle">
            <a:fillToRect l="25000" t="35000" r="75000" b="6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01440" y="514350"/>
            <a:ext cx="30003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ERAYA Casper</a:t>
            </a:r>
            <a:endParaRPr lang="en-US" sz="2475" dirty="0"/>
          </a:p>
        </p:txBody>
      </p:sp>
      <p:sp>
        <p:nvSpPr>
          <p:cNvPr id="3" name="Text 1"/>
          <p:cNvSpPr/>
          <p:nvPr/>
        </p:nvSpPr>
        <p:spPr>
          <a:xfrm>
            <a:off x="971526" y="600075"/>
            <a:ext cx="885802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75" b="1" dirty="0">
                <a:solidFill>
                  <a:srgbClr val="D9649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8 — SECURITY-FIRST (KAVACHA)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71527" y="1085850"/>
            <a:ext cx="1400140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4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Threats hunted before a bad deploy lands.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71526" y="2571751"/>
            <a:ext cx="1171545" cy="71438"/>
          </a:xfrm>
          <a:prstGeom prst="rect">
            <a:avLst/>
          </a:prstGeom>
          <a:solidFill>
            <a:srgbClr val="D9649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71527" y="2914650"/>
            <a:ext cx="7213445" cy="5915025"/>
          </a:xfrm>
          <a:prstGeom prst="roundRect">
            <a:avLst/>
          </a:prstGeom>
          <a:solidFill>
            <a:srgbClr val="5A2140">
              <a:alpha val="9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42993" y="3286125"/>
            <a:ext cx="6470513" cy="621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KAVACHA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42993" y="3907854"/>
            <a:ext cx="6470513" cy="656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25" dirty="0">
                <a:solidFill>
                  <a:srgbClr val="E9EC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Security-first guardian for unsafe actions, adversarial inputs, and agent identity.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1342993" y="4850384"/>
            <a:ext cx="6470513" cy="1114425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557299" y="5064697"/>
            <a:ext cx="60419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attack sim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557299" y="5450459"/>
            <a:ext cx="60419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75" dirty="0">
                <a:solidFill>
                  <a:srgbClr val="E9EC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verdict BLOCKED · rule R003 · full signed timeline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8499288" y="2914651"/>
            <a:ext cx="4308243" cy="3002384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742168" y="3157538"/>
            <a:ext cx="3822480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02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Injection kill-shot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8742168" y="3504680"/>
            <a:ext cx="3822480" cy="869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7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Operator/agent inputs scanned; unsafe actions BLOCKED with a signed audit trail.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13007551" y="2914651"/>
            <a:ext cx="4308467" cy="3002384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3250432" y="3157538"/>
            <a:ext cx="3822704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02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A2A identity defense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3250432" y="3504680"/>
            <a:ext cx="3822704" cy="869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7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Forged agent messages rejected via HMAC signature check — same function the live WebSocket path uses.</a:t>
            </a:r>
            <a:endParaRPr lang="en-US" sz="1575" dirty="0"/>
          </a:p>
        </p:txBody>
      </p:sp>
      <p:sp>
        <p:nvSpPr>
          <p:cNvPr id="18" name="Shape 16"/>
          <p:cNvSpPr/>
          <p:nvPr/>
        </p:nvSpPr>
        <p:spPr>
          <a:xfrm>
            <a:off x="8499288" y="6117059"/>
            <a:ext cx="4308243" cy="2712617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742168" y="6359946"/>
            <a:ext cx="3822480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02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Quorum before execution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8742168" y="6707089"/>
            <a:ext cx="3822480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7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High-stakes DeFi moves need swarm consensus, not one agent’s call.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13007551" y="6117059"/>
            <a:ext cx="4308467" cy="2712617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3250432" y="6359946"/>
            <a:ext cx="3822704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02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Proactive threat scanner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13250432" y="6707089"/>
            <a:ext cx="3822704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7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Mempool, liquidity, and governance risk scanned before execution — DeFi policy rules R004–R008.</a:t>
            </a:r>
          </a:p>
        </p:txBody>
      </p:sp>
      <p:sp>
        <p:nvSpPr>
          <p:cNvPr id="24" name="Text 22"/>
          <p:cNvSpPr/>
          <p:nvPr/>
        </p:nvSpPr>
        <p:spPr>
          <a:xfrm>
            <a:off x="971526" y="9544050"/>
            <a:ext cx="1634449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ERAYA Casper · Security-first proof · Casper Agentic Buildathon 2026</a:t>
            </a:r>
            <a:endParaRPr lang="en-US" sz="1350" dirty="0"/>
          </a:p>
        </p:txBody>
      </p:sp>
      <p:sp>
        <p:nvSpPr>
          <p:cNvPr id="400" name="Clone 400"/>
          <p:cNvSpPr/>
          <p:nvPr/>
        </p:nvSpPr>
        <p:spPr>
          <a:xfrm>
            <a:off x="1342993" y="6171184"/>
            <a:ext cx="6470513" cy="1114425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1" name="Clone 401"/>
          <p:cNvSpPr/>
          <p:nvPr/>
        </p:nvSpPr>
        <p:spPr>
          <a:xfrm>
            <a:off x="1557299" y="6385497"/>
            <a:ext cx="60419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Signed audit trail</a:t>
            </a:r>
            <a:endParaRPr lang="en-US" sz="2250" dirty="0"/>
          </a:p>
        </p:txBody>
      </p:sp>
      <p:sp>
        <p:nvSpPr>
          <p:cNvPr id="402" name="Clone 402"/>
          <p:cNvSpPr/>
          <p:nvPr/>
        </p:nvSpPr>
        <p:spPr>
          <a:xfrm>
            <a:off x="1557299" y="6771259"/>
            <a:ext cx="60419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75" dirty="0">
                <a:solidFill>
                  <a:srgbClr val="E9EC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HMAC-signed timeline — every veto recorded</a:t>
            </a:r>
            <a:endParaRPr lang="en-US" sz="1575" dirty="0"/>
          </a:p>
        </p:txBody>
      </p:sp>
      <p:sp>
        <p:nvSpPr>
          <p:cNvPr id="403" name="Clone 403"/>
          <p:cNvSpPr/>
          <p:nvPr/>
        </p:nvSpPr>
        <p:spPr>
          <a:xfrm>
            <a:off x="1342993" y="7491984"/>
            <a:ext cx="6470513" cy="1114425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4" name="Clone 404"/>
          <p:cNvSpPr/>
          <p:nvPr/>
        </p:nvSpPr>
        <p:spPr>
          <a:xfrm>
            <a:off x="1557299" y="7706297"/>
            <a:ext cx="60419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DeFi policy rules R004–R008</a:t>
            </a:r>
            <a:endParaRPr lang="en-US" sz="2250" dirty="0"/>
          </a:p>
        </p:txBody>
      </p:sp>
      <p:sp>
        <p:nvSpPr>
          <p:cNvPr id="405" name="Clone 405"/>
          <p:cNvSpPr/>
          <p:nvPr/>
        </p:nvSpPr>
        <p:spPr>
          <a:xfrm>
            <a:off x="1557299" y="8092059"/>
            <a:ext cx="60419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75" dirty="0">
                <a:solidFill>
                  <a:srgbClr val="E9EC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mempool · liquidity · governance · slippage</a:t>
            </a:r>
            <a:endParaRPr lang="en-US" sz="1575" dirty="0"/>
          </a:p>
        </p:txBody>
      </p:sp>
    </p:spTree>
    <p:extLst>
      <p:ext uri="{BB962C8B-B14F-4D97-AF65-F5344CB8AC3E}">
        <p14:creationId xmlns:p14="http://schemas.microsoft.com/office/powerpoint/2010/main" val="1054749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4A142B"/>
            </a:gs>
            <a:gs pos="60000">
              <a:srgbClr val="2B0D1C"/>
            </a:gs>
            <a:gs pos="100000">
              <a:srgbClr val="150710"/>
            </a:gs>
          </a:gsLst>
          <a:path path="circle">
            <a:fillToRect l="25000" t="35000" r="75000" b="6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01440" y="514350"/>
            <a:ext cx="30003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ERAYA Casper</a:t>
            </a:r>
            <a:endParaRPr lang="en-US" sz="2475" dirty="0"/>
          </a:p>
        </p:txBody>
      </p:sp>
      <p:sp>
        <p:nvSpPr>
          <p:cNvPr id="3" name="Text 1"/>
          <p:cNvSpPr/>
          <p:nvPr/>
        </p:nvSpPr>
        <p:spPr>
          <a:xfrm>
            <a:off x="971527" y="600075"/>
            <a:ext cx="928664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75" b="1" dirty="0">
                <a:solidFill>
                  <a:srgbClr val="D9649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9 — LIVE PROOF (WORKING TODAY)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71526" y="1085850"/>
            <a:ext cx="148586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live deployment serves the console right now — with real on-chain execution.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71526" y="2571751"/>
            <a:ext cx="1171545" cy="71438"/>
          </a:xfrm>
          <a:prstGeom prst="rect">
            <a:avLst/>
          </a:prstGeom>
          <a:solidFill>
            <a:srgbClr val="D9649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71527" y="2914650"/>
            <a:ext cx="10286744" cy="828675"/>
          </a:xfrm>
          <a:prstGeom prst="roundRect">
            <a:avLst/>
          </a:prstGeom>
          <a:solidFill>
            <a:srgbClr val="5A2140">
              <a:alpha val="9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79600" y="3143250"/>
            <a:ext cx="812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950" dirty="0">
                <a:solidFill>
                  <a:srgbClr val="F29E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https://eraya.34.126.112.227.nip.io — HTTPS · sign in as Guest</a:t>
            </a:r>
          </a:p>
        </p:txBody>
      </p:sp>
      <p:sp>
        <p:nvSpPr>
          <p:cNvPr id="8" name="Shape 6"/>
          <p:cNvSpPr/>
          <p:nvPr/>
        </p:nvSpPr>
        <p:spPr>
          <a:xfrm>
            <a:off x="971526" y="4114800"/>
            <a:ext cx="2557398" cy="1514475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157260" y="4357688"/>
            <a:ext cx="2185934" cy="462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4,997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157260" y="4820469"/>
            <a:ext cx="2185934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CSPR TREASURY · LIVE RPC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728945" y="4114800"/>
            <a:ext cx="2557398" cy="1514475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914678" y="4357688"/>
            <a:ext cx="2185934" cy="462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914678" y="4820469"/>
            <a:ext cx="2185934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ODRA CONTRACTS DEPLOYED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86363" y="4114800"/>
            <a:ext cx="2557398" cy="1514475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672097" y="4357688"/>
            <a:ext cx="2185934" cy="462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672097" y="4820469"/>
            <a:ext cx="2185934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AGENTS REGISTERED ON-CHAIN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243782" y="4114800"/>
            <a:ext cx="2557398" cy="1514475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429515" y="4357688"/>
            <a:ext cx="2185934" cy="462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2.5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429515" y="4820469"/>
            <a:ext cx="2185934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CSPR SETTLED PER TRADE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2001200" y="4114800"/>
            <a:ext cx="2557398" cy="1514475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2186934" y="4357688"/>
            <a:ext cx="2185934" cy="462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TabPFN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2186934" y="4820469"/>
            <a:ext cx="2185934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RISK SCORE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4758619" y="4114800"/>
            <a:ext cx="2557398" cy="1514475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4944352" y="4357688"/>
            <a:ext cx="2185934" cy="462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200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14944352" y="4820469"/>
            <a:ext cx="2185934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 API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71526" y="6086475"/>
            <a:ext cx="8029374" cy="1771650"/>
          </a:xfrm>
          <a:prstGeom prst="roundRect">
            <a:avLst/>
          </a:prstGeom>
          <a:solidFill>
            <a:srgbClr val="D8CCD3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021530" y="6086475"/>
            <a:ext cx="0" cy="1771650"/>
          </a:xfrm>
          <a:prstGeom prst="line">
            <a:avLst/>
          </a:prstGeom>
          <a:solidFill>
            <a:srgbClr val="D8CCD3">
              <a:alpha val="40000"/>
            </a:srgbClr>
          </a:solidFill>
          <a:ln w="6667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385854" y="6343651"/>
            <a:ext cx="730073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system surfaces respond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385854" y="6729413"/>
            <a:ext cx="7300730" cy="634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KAVACHA attack-sim, swarm status, live A2A reasoning chat, and the voice copilot all respond with real data.</a:t>
            </a:r>
          </a:p>
        </p:txBody>
      </p:sp>
      <p:sp>
        <p:nvSpPr>
          <p:cNvPr id="30" name="Shape 28"/>
          <p:cNvSpPr/>
          <p:nvPr/>
        </p:nvSpPr>
        <p:spPr>
          <a:xfrm>
            <a:off x="9286643" y="6086475"/>
            <a:ext cx="8029374" cy="1771650"/>
          </a:xfrm>
          <a:prstGeom prst="roundRect">
            <a:avLst/>
          </a:prstGeom>
          <a:solidFill>
            <a:srgbClr val="D8CCD3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9336648" y="6086475"/>
            <a:ext cx="0" cy="1771650"/>
          </a:xfrm>
          <a:prstGeom prst="line">
            <a:avLst/>
          </a:prstGeom>
          <a:solidFill>
            <a:srgbClr val="D8CCD3">
              <a:alpha val="40000"/>
            </a:srgbClr>
          </a:solidFill>
          <a:ln w="6667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9700970" y="6343651"/>
            <a:ext cx="730073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Production, not slideware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9700970" y="6729413"/>
            <a:ext cx="7300730" cy="634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 testnet transactions: contract deploys, agent registrations, trade settlement — every one with a cspr.live link.</a:t>
            </a:r>
            <a:endParaRPr lang="en-US" sz="1725" dirty="0"/>
          </a:p>
        </p:txBody>
      </p:sp>
      <p:sp>
        <p:nvSpPr>
          <p:cNvPr id="34" name="Text 32"/>
          <p:cNvSpPr/>
          <p:nvPr/>
        </p:nvSpPr>
        <p:spPr>
          <a:xfrm>
            <a:off x="971526" y="9544050"/>
            <a:ext cx="1634449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ERAYA Casper · Live proof · Casper Agentic Buildathon 2026</a:t>
            </a:r>
            <a:endParaRPr lang="en-US" sz="1350" dirty="0"/>
          </a:p>
        </p:txBody>
      </p:sp>
      <p:sp>
        <p:nvSpPr>
          <p:cNvPr id="500" name="Row3 500"/>
          <p:cNvSpPr/>
          <p:nvPr/>
        </p:nvSpPr>
        <p:spPr>
          <a:xfrm>
            <a:off x="971526" y="8067675"/>
            <a:ext cx="16344900" cy="1206500"/>
          </a:xfrm>
          <a:prstGeom prst="roundRect">
            <a:avLst/>
          </a:prstGeom>
          <a:solidFill>
            <a:srgbClr val="D8CCD3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1" name="Row3 501"/>
          <p:cNvSpPr/>
          <p:nvPr/>
        </p:nvSpPr>
        <p:spPr>
          <a:xfrm>
            <a:off x="1021530" y="8067675"/>
            <a:ext cx="0" cy="1206500"/>
          </a:xfrm>
          <a:prstGeom prst="line">
            <a:avLst/>
          </a:prstGeom>
          <a:solidFill>
            <a:srgbClr val="D8CCD3">
              <a:alpha val="40000"/>
            </a:srgbClr>
          </a:solidFill>
          <a:ln w="6667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2" name="Row3 502"/>
          <p:cNvSpPr/>
          <p:nvPr/>
        </p:nvSpPr>
        <p:spPr>
          <a:xfrm>
            <a:off x="1385854" y="8324851"/>
            <a:ext cx="156210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Swarm-for-hire over x402</a:t>
            </a:r>
            <a:endParaRPr lang="en-US" sz="2250" dirty="0"/>
          </a:p>
        </p:txBody>
      </p:sp>
      <p:sp>
        <p:nvSpPr>
          <p:cNvPr id="503" name="Row3 503"/>
          <p:cNvSpPr/>
          <p:nvPr/>
        </p:nvSpPr>
        <p:spPr>
          <a:xfrm>
            <a:off x="1385854" y="8710613"/>
            <a:ext cx="15621000" cy="634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External agents — elizaOS, LangChain, MCP, curl — pay 0.005 CSPR over HTTP 402 for the swarm's live quant signal.</a:t>
            </a:r>
          </a:p>
        </p:txBody>
      </p:sp>
    </p:spTree>
    <p:extLst>
      <p:ext uri="{BB962C8B-B14F-4D97-AF65-F5344CB8AC3E}">
        <p14:creationId xmlns:p14="http://schemas.microsoft.com/office/powerpoint/2010/main" val="2483113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4A142B"/>
            </a:gs>
            <a:gs pos="60000">
              <a:srgbClr val="2B0D1C"/>
            </a:gs>
            <a:gs pos="100000">
              <a:srgbClr val="150710"/>
            </a:gs>
          </a:gsLst>
          <a:path path="circle">
            <a:fillToRect l="25000" t="35000" r="75000" b="6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01440" y="514350"/>
            <a:ext cx="30003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ERAYA Casper</a:t>
            </a:r>
            <a:endParaRPr lang="en-US" sz="2475" dirty="0"/>
          </a:p>
        </p:txBody>
      </p:sp>
      <p:sp>
        <p:nvSpPr>
          <p:cNvPr id="3" name="Text 1"/>
          <p:cNvSpPr/>
          <p:nvPr/>
        </p:nvSpPr>
        <p:spPr>
          <a:xfrm>
            <a:off x="971526" y="600075"/>
            <a:ext cx="91437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75" b="1" dirty="0">
                <a:solidFill>
                  <a:srgbClr val="D9649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10 — DEFI + RWA + AI CONVERGENCE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71527" y="1085850"/>
            <a:ext cx="13144172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442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engine, three of Casper’s priorities.</a:t>
            </a:r>
            <a:endParaRPr lang="en-US" sz="4425" dirty="0"/>
          </a:p>
        </p:txBody>
      </p:sp>
      <p:sp>
        <p:nvSpPr>
          <p:cNvPr id="5" name="Shape 3"/>
          <p:cNvSpPr/>
          <p:nvPr/>
        </p:nvSpPr>
        <p:spPr>
          <a:xfrm>
            <a:off x="971526" y="2143126"/>
            <a:ext cx="1171545" cy="71438"/>
          </a:xfrm>
          <a:prstGeom prst="rect">
            <a:avLst/>
          </a:prstGeom>
          <a:solidFill>
            <a:srgbClr val="D9649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71527" y="2657475"/>
            <a:ext cx="5238470" cy="4572000"/>
          </a:xfrm>
          <a:prstGeom prst="roundRect">
            <a:avLst/>
          </a:prstGeom>
          <a:solidFill>
            <a:srgbClr val="D8CCD3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71527" y="2721770"/>
            <a:ext cx="5238470" cy="0"/>
          </a:xfrm>
          <a:prstGeom prst="line">
            <a:avLst/>
          </a:prstGeom>
          <a:solidFill>
            <a:srgbClr val="D8CCD3">
              <a:alpha val="40000"/>
            </a:srgbClr>
          </a:solidFill>
          <a:ln w="857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202853" y="2657475"/>
            <a:ext cx="0" cy="4572000"/>
          </a:xfrm>
          <a:prstGeom prst="line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71527" y="7222332"/>
            <a:ext cx="5238470" cy="0"/>
          </a:xfrm>
          <a:prstGeom prst="line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78669" y="2657475"/>
            <a:ext cx="0" cy="4572000"/>
          </a:xfrm>
          <a:prstGeom prst="line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300130" y="3128963"/>
            <a:ext cx="4581261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92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DeFi</a:t>
            </a:r>
            <a:endParaRPr lang="en-US" sz="2925" dirty="0"/>
          </a:p>
        </p:txBody>
      </p:sp>
      <p:sp>
        <p:nvSpPr>
          <p:cNvPr id="12" name="Text 10"/>
          <p:cNvSpPr/>
          <p:nvPr/>
        </p:nvSpPr>
        <p:spPr>
          <a:xfrm>
            <a:off x="1300130" y="3630365"/>
            <a:ext cx="4581261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Autonomous treasury rebalance, yield monitoring, and slippage/liquidity-aware execution.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24313" y="2657475"/>
            <a:ext cx="5238693" cy="4572000"/>
          </a:xfrm>
          <a:prstGeom prst="roundRect">
            <a:avLst/>
          </a:prstGeom>
          <a:solidFill>
            <a:srgbClr val="D8CCD3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524313" y="2721770"/>
            <a:ext cx="5238693" cy="0"/>
          </a:xfrm>
          <a:prstGeom prst="line">
            <a:avLst/>
          </a:prstGeom>
          <a:solidFill>
            <a:srgbClr val="D8CCD3">
              <a:alpha val="40000"/>
            </a:srgbClr>
          </a:solidFill>
          <a:ln w="857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1755863" y="2657475"/>
            <a:ext cx="0" cy="4572000"/>
          </a:xfrm>
          <a:prstGeom prst="line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524313" y="7222332"/>
            <a:ext cx="5238693" cy="0"/>
          </a:xfrm>
          <a:prstGeom prst="line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531456" y="2657475"/>
            <a:ext cx="0" cy="4572000"/>
          </a:xfrm>
          <a:prstGeom prst="line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852919" y="3128963"/>
            <a:ext cx="4581485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92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RWA-ready</a:t>
            </a:r>
            <a:endParaRPr lang="en-US" sz="2925" dirty="0"/>
          </a:p>
        </p:txBody>
      </p:sp>
      <p:sp>
        <p:nvSpPr>
          <p:cNvPr id="19" name="Text 17"/>
          <p:cNvSpPr/>
          <p:nvPr/>
        </p:nvSpPr>
        <p:spPr>
          <a:xfrm>
            <a:off x="6852919" y="3630365"/>
            <a:ext cx="458148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swarm is domain-agnostic — a 3-method adapter plugs in any real-world asset stream, already proven across 5G, cloud, and ICU domains.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077324" y="2657475"/>
            <a:ext cx="5238470" cy="4572000"/>
          </a:xfrm>
          <a:prstGeom prst="roundRect">
            <a:avLst/>
          </a:prstGeom>
          <a:solidFill>
            <a:srgbClr val="D8CCD3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2077324" y="2721770"/>
            <a:ext cx="5238470" cy="0"/>
          </a:xfrm>
          <a:prstGeom prst="line">
            <a:avLst/>
          </a:prstGeom>
          <a:solidFill>
            <a:srgbClr val="D8CCD3">
              <a:alpha val="40000"/>
            </a:srgbClr>
          </a:solidFill>
          <a:ln w="857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7308650" y="2657475"/>
            <a:ext cx="0" cy="4572000"/>
          </a:xfrm>
          <a:prstGeom prst="line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2077324" y="7222332"/>
            <a:ext cx="5238470" cy="0"/>
          </a:xfrm>
          <a:prstGeom prst="line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2084467" y="2657475"/>
            <a:ext cx="0" cy="4572000"/>
          </a:xfrm>
          <a:prstGeom prst="line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2405929" y="3128963"/>
            <a:ext cx="4581261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92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Agentic AI</a:t>
            </a:r>
            <a:endParaRPr lang="en-US" sz="2925" dirty="0"/>
          </a:p>
        </p:txBody>
      </p:sp>
      <p:sp>
        <p:nvSpPr>
          <p:cNvPr id="26" name="Text 24"/>
          <p:cNvSpPr/>
          <p:nvPr/>
        </p:nvSpPr>
        <p:spPr>
          <a:xfrm>
            <a:off x="12405929" y="3630365"/>
            <a:ext cx="4581261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Self-healing, quorum, priced agent economy — the “how do agents act safely with real money” story.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257368" y="7829551"/>
            <a:ext cx="13772805" cy="1052810"/>
          </a:xfrm>
          <a:prstGeom prst="roundRect">
            <a:avLst/>
          </a:prstGeom>
          <a:solidFill>
            <a:srgbClr val="5A2140">
              <a:alpha val="9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617603" y="8129588"/>
            <a:ext cx="277304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75" b="1" dirty="0">
                <a:solidFill>
                  <a:srgbClr val="F29E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DeFi × RWA × AI</a:t>
            </a:r>
            <a:endParaRPr lang="en-US" sz="2475" dirty="0"/>
          </a:p>
        </p:txBody>
      </p:sp>
      <p:sp>
        <p:nvSpPr>
          <p:cNvPr id="29" name="Text 27"/>
          <p:cNvSpPr/>
          <p:nvPr/>
        </p:nvSpPr>
        <p:spPr>
          <a:xfrm>
            <a:off x="971526" y="9544050"/>
            <a:ext cx="1634449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ERAYA Casper · Convergence story · Casper Agentic Buildathon 2026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426522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4A142B"/>
            </a:gs>
            <a:gs pos="60000">
              <a:srgbClr val="2B0D1C"/>
            </a:gs>
            <a:gs pos="100000">
              <a:srgbClr val="150710"/>
            </a:gs>
          </a:gsLst>
          <a:path path="circle">
            <a:fillToRect l="25000" t="35000" r="75000" b="6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01440" y="514350"/>
            <a:ext cx="30003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ERAYA Casper</a:t>
            </a:r>
            <a:endParaRPr lang="en-US" sz="2475" dirty="0"/>
          </a:p>
        </p:txBody>
      </p:sp>
      <p:sp>
        <p:nvSpPr>
          <p:cNvPr id="3" name="Text 1"/>
          <p:cNvSpPr/>
          <p:nvPr/>
        </p:nvSpPr>
        <p:spPr>
          <a:xfrm>
            <a:off x="971526" y="600075"/>
            <a:ext cx="885802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75" b="1" dirty="0">
                <a:solidFill>
                  <a:srgbClr val="D9649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11 — WHY WE WIN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71527" y="1085850"/>
            <a:ext cx="13144172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Defined failure behaviour is our moat.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71526" y="2114551"/>
            <a:ext cx="1171545" cy="71438"/>
          </a:xfrm>
          <a:prstGeom prst="rect">
            <a:avLst/>
          </a:prstGeom>
          <a:solidFill>
            <a:srgbClr val="D9649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71527" y="2514601"/>
            <a:ext cx="8015087" cy="2986088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28705" y="2843213"/>
            <a:ext cx="7300730" cy="42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agent has a defined failure path</a:t>
            </a:r>
            <a:endParaRPr lang="en-US" sz="2475" dirty="0"/>
          </a:p>
        </p:txBody>
      </p:sp>
      <p:sp>
        <p:nvSpPr>
          <p:cNvPr id="8" name="Text 6"/>
          <p:cNvSpPr/>
          <p:nvPr/>
        </p:nvSpPr>
        <p:spPr>
          <a:xfrm>
            <a:off x="1328705" y="3267373"/>
            <a:ext cx="7300730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swarm never fully stops — it can re-plan, retry, roll back, or fail safely.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300931" y="2514601"/>
            <a:ext cx="8015087" cy="2986088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658109" y="2843213"/>
            <a:ext cx="7300730" cy="42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Live, open-source, production-ready</a:t>
            </a:r>
            <a:endParaRPr lang="en-US" sz="2475" dirty="0"/>
          </a:p>
        </p:txBody>
      </p:sp>
      <p:sp>
        <p:nvSpPr>
          <p:cNvPr id="11" name="Text 9"/>
          <p:cNvSpPr/>
          <p:nvPr/>
        </p:nvSpPr>
        <p:spPr>
          <a:xfrm>
            <a:off x="9658109" y="3267372"/>
            <a:ext cx="7300730" cy="358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Judges can hit the URL now and inspect the code.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71527" y="5815013"/>
            <a:ext cx="8015087" cy="2986088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328705" y="6143626"/>
            <a:ext cx="7300730" cy="42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 signals on the critical path</a:t>
            </a:r>
            <a:endParaRPr lang="en-US" sz="2475" dirty="0"/>
          </a:p>
        </p:txBody>
      </p:sp>
      <p:sp>
        <p:nvSpPr>
          <p:cNvPr id="14" name="Text 12"/>
          <p:cNvSpPr/>
          <p:nvPr/>
        </p:nvSpPr>
        <p:spPr>
          <a:xfrm>
            <a:off x="1328705" y="6567785"/>
            <a:ext cx="7300730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market data, deployed Odra contracts, real testnet settlement — no critical-path stubs.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300931" y="5815013"/>
            <a:ext cx="8015087" cy="2986088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658109" y="6143626"/>
            <a:ext cx="7300730" cy="42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hard problems solved together</a:t>
            </a:r>
            <a:endParaRPr lang="en-US" sz="2475" dirty="0"/>
          </a:p>
        </p:txBody>
      </p:sp>
      <p:sp>
        <p:nvSpPr>
          <p:cNvPr id="17" name="Text 15"/>
          <p:cNvSpPr/>
          <p:nvPr/>
        </p:nvSpPr>
        <p:spPr>
          <a:xfrm>
            <a:off x="9658109" y="6567785"/>
            <a:ext cx="7300730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 safety through KAVACHA + agent economics through x402 + reputation.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71526" y="9544050"/>
            <a:ext cx="1634449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ERAYA Casper · Why we win · Casper Agentic Buildathon 2026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286302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4A142B"/>
            </a:gs>
            <a:gs pos="60000">
              <a:srgbClr val="2B0D1C"/>
            </a:gs>
            <a:gs pos="100000">
              <a:srgbClr val="150710"/>
            </a:gs>
          </a:gsLst>
          <a:path path="circle">
            <a:fillToRect l="25000" t="35000" r="75000" b="6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01440" y="514350"/>
            <a:ext cx="30003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ERAYA Casper</a:t>
            </a:r>
            <a:endParaRPr lang="en-US" sz="2475" dirty="0"/>
          </a:p>
        </p:txBody>
      </p:sp>
      <p:sp>
        <p:nvSpPr>
          <p:cNvPr id="3" name="Text 1"/>
          <p:cNvSpPr/>
          <p:nvPr/>
        </p:nvSpPr>
        <p:spPr>
          <a:xfrm>
            <a:off x="971526" y="600075"/>
            <a:ext cx="885802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75" b="1" dirty="0">
                <a:solidFill>
                  <a:srgbClr val="D9649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12 — ROADMAP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71526" y="1085850"/>
            <a:ext cx="1428714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82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Contracts and settlement are LIVE; next: providers and RWA.</a:t>
            </a:r>
            <a:endParaRPr lang="en-US" sz="3825" dirty="0"/>
          </a:p>
        </p:txBody>
      </p:sp>
      <p:sp>
        <p:nvSpPr>
          <p:cNvPr id="5" name="Shape 3"/>
          <p:cNvSpPr/>
          <p:nvPr/>
        </p:nvSpPr>
        <p:spPr>
          <a:xfrm>
            <a:off x="971526" y="2571751"/>
            <a:ext cx="1171545" cy="71438"/>
          </a:xfrm>
          <a:prstGeom prst="rect">
            <a:avLst/>
          </a:prstGeom>
          <a:solidFill>
            <a:srgbClr val="D9649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71526" y="3057525"/>
            <a:ext cx="3893247" cy="4572000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242981" y="3386138"/>
            <a:ext cx="571485" cy="571500"/>
          </a:xfrm>
          <a:prstGeom prst="ellipse">
            <a:avLst/>
          </a:prstGeom>
          <a:solidFill>
            <a:srgbClr val="D9649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242982" y="4157663"/>
            <a:ext cx="335033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Wire live providers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42982" y="4543425"/>
            <a:ext cx="3350336" cy="1184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7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CSPR.cloud, Casper MCP, CSPR.trade MCP, CSPR.click; keep deterministic fallback for stage demos.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5121941" y="3057525"/>
            <a:ext cx="3893247" cy="4572000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393397" y="3386138"/>
            <a:ext cx="571485" cy="571500"/>
          </a:xfrm>
          <a:prstGeom prst="ellipse">
            <a:avLst/>
          </a:prstGeom>
          <a:solidFill>
            <a:srgbClr val="D9649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393398" y="4157663"/>
            <a:ext cx="335033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Odra contracts ✓ SHIPPED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393398" y="4978400"/>
            <a:ext cx="3350336" cy="888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7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AgentRegistry + TradePolicy deployed on testnet with explorer links; treasury &amp; governance contracts next.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9272355" y="3057525"/>
            <a:ext cx="3893247" cy="4572000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543812" y="3386138"/>
            <a:ext cx="571485" cy="571500"/>
          </a:xfrm>
          <a:prstGeom prst="ellipse">
            <a:avLst/>
          </a:prstGeom>
          <a:solidFill>
            <a:srgbClr val="D9649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543812" y="4157663"/>
            <a:ext cx="335033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 outcomes ✓ recording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543812" y="4978400"/>
            <a:ext cx="3350336" cy="888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7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Quant Desk trades settle as chain-visible transactions; next: quorum votes and KAVACHA vetoes.</a:t>
            </a:r>
            <a:endParaRPr lang="en-US" sz="1575" dirty="0"/>
          </a:p>
        </p:txBody>
      </p:sp>
      <p:sp>
        <p:nvSpPr>
          <p:cNvPr id="18" name="Shape 16"/>
          <p:cNvSpPr/>
          <p:nvPr/>
        </p:nvSpPr>
        <p:spPr>
          <a:xfrm>
            <a:off x="13422771" y="3057525"/>
            <a:ext cx="3893247" cy="4572000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3694226" y="3386138"/>
            <a:ext cx="571485" cy="571500"/>
          </a:xfrm>
          <a:prstGeom prst="ellipse">
            <a:avLst/>
          </a:prstGeom>
          <a:solidFill>
            <a:srgbClr val="D9649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3694227" y="4157663"/>
            <a:ext cx="335033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 RWA adapters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3694227" y="4543425"/>
            <a:ext cx="3350336" cy="59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75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Onboard a real-world asset feed end-to-end.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2685983" y="8115301"/>
            <a:ext cx="12915578" cy="817067"/>
          </a:xfrm>
          <a:prstGeom prst="roundRect">
            <a:avLst/>
          </a:prstGeom>
          <a:solidFill>
            <a:srgbClr val="5A2140">
              <a:alpha val="9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29E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Execution path: Odra contracts ✓ → on-chain outcomes ✓ → live providers → RWA adapters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71526" y="9544050"/>
            <a:ext cx="1634449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ERAYA Casper · Roadmap · Casper Agentic Buildathon 2026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855492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4A142B"/>
            </a:gs>
            <a:gs pos="60000">
              <a:srgbClr val="2B0D1C"/>
            </a:gs>
            <a:gs pos="100000">
              <a:srgbClr val="150710"/>
            </a:gs>
          </a:gsLst>
          <a:path path="circle">
            <a:fillToRect l="25000" t="35000" r="75000" b="6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01440" y="514350"/>
            <a:ext cx="30003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ERAYA Casper</a:t>
            </a:r>
            <a:endParaRPr lang="en-US" sz="2475" dirty="0"/>
          </a:p>
        </p:txBody>
      </p:sp>
      <p:sp>
        <p:nvSpPr>
          <p:cNvPr id="3" name="Text 1"/>
          <p:cNvSpPr/>
          <p:nvPr/>
        </p:nvSpPr>
        <p:spPr>
          <a:xfrm>
            <a:off x="971526" y="600075"/>
            <a:ext cx="885802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75" b="1" dirty="0">
                <a:solidFill>
                  <a:srgbClr val="D9649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13 — TEAM, ASK &amp; LINKS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71527" y="1171575"/>
            <a:ext cx="10286744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 ERAYA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971526" y="2314576"/>
            <a:ext cx="1171545" cy="71438"/>
          </a:xfrm>
          <a:prstGeom prst="rect">
            <a:avLst/>
          </a:prstGeom>
          <a:solidFill>
            <a:srgbClr val="D9649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71527" y="2886075"/>
            <a:ext cx="5238470" cy="4318000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28705" y="3243263"/>
            <a:ext cx="4524113" cy="42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 Lead</a:t>
            </a:r>
            <a:endParaRPr lang="en-US" sz="2475" dirty="0"/>
          </a:p>
        </p:txBody>
      </p:sp>
      <p:sp>
        <p:nvSpPr>
          <p:cNvPr id="8" name="Text 6"/>
          <p:cNvSpPr/>
          <p:nvPr/>
        </p:nvSpPr>
        <p:spPr>
          <a:xfrm>
            <a:off x="1328705" y="3667423"/>
            <a:ext cx="4524113" cy="371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Pardeep Singh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28705" y="4038676"/>
            <a:ext cx="4524113" cy="371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sandhupardeep300@gmail.com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524313" y="2886075"/>
            <a:ext cx="5238693" cy="4318000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81492" y="3243263"/>
            <a:ext cx="4524336" cy="42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demo</a:t>
            </a:r>
          </a:p>
          <a:p>
            <a:pPr marL="0" indent="0" algn="l">
              <a:buNone/>
            </a:pPr>
            <a:endParaRPr lang="en-US" sz="2475" dirty="0"/>
          </a:p>
        </p:txBody>
      </p:sp>
      <p:sp>
        <p:nvSpPr>
          <p:cNvPr id="12" name="Text 10"/>
          <p:cNvSpPr/>
          <p:nvPr/>
        </p:nvSpPr>
        <p:spPr>
          <a:xfrm>
            <a:off x="6881492" y="3667422"/>
            <a:ext cx="4376779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https://eraya.online</a:t>
            </a:r>
            <a:endParaRPr lang="en-US" sz="1950" dirty="0">
              <a:solidFill>
                <a:srgbClr val="FFFFFF"/>
              </a:solidFill>
              <a:latin typeface="Helvetica Neue" pitchFamily="34" charset="0"/>
              <a:ea typeface="Helvetica Neue" pitchFamily="34" charset="-122"/>
              <a:cs typeface="Helvetica Neue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81491" y="4560208"/>
            <a:ext cx="4524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Guest / member / admin sign-in — trading, wallet, KAVACHA, A2A feed, x402, voice.</a:t>
            </a:r>
          </a:p>
        </p:txBody>
      </p:sp>
      <p:sp>
        <p:nvSpPr>
          <p:cNvPr id="14" name="Shape 12"/>
          <p:cNvSpPr/>
          <p:nvPr/>
        </p:nvSpPr>
        <p:spPr>
          <a:xfrm>
            <a:off x="12077324" y="2886075"/>
            <a:ext cx="5238470" cy="4318000"/>
          </a:xfrm>
          <a:prstGeom prst="roundRect">
            <a:avLst/>
          </a:prstGeom>
          <a:solidFill>
            <a:srgbClr val="D8CCD3">
              <a:alpha val="40000"/>
            </a:srgbClr>
          </a:solidFill>
          <a:ln w="9525">
            <a:solidFill>
              <a:srgbClr val="D964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2434503" y="3243263"/>
            <a:ext cx="4524113" cy="42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Repository</a:t>
            </a:r>
            <a:endParaRPr lang="en-US" sz="2475" dirty="0"/>
          </a:p>
        </p:txBody>
      </p:sp>
      <p:sp>
        <p:nvSpPr>
          <p:cNvPr id="16" name="Text 14"/>
          <p:cNvSpPr/>
          <p:nvPr/>
        </p:nvSpPr>
        <p:spPr>
          <a:xfrm>
            <a:off x="12434503" y="3667423"/>
            <a:ext cx="4524113" cy="371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github.com/martian3062/eraya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434503" y="4038676"/>
            <a:ext cx="4524113" cy="371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branch caspr · open-source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71526" y="7620000"/>
            <a:ext cx="16344492" cy="1435100"/>
          </a:xfrm>
          <a:prstGeom prst="roundRect">
            <a:avLst/>
          </a:prstGeom>
          <a:solidFill>
            <a:srgbClr val="5A2140">
              <a:alpha val="9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457289" y="7962900"/>
            <a:ext cx="15372966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92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ask</a:t>
            </a:r>
            <a:endParaRPr lang="en-US" sz="2925" dirty="0"/>
          </a:p>
        </p:txBody>
      </p:sp>
      <p:sp>
        <p:nvSpPr>
          <p:cNvPr id="20" name="Text 18"/>
          <p:cNvSpPr/>
          <p:nvPr/>
        </p:nvSpPr>
        <p:spPr>
          <a:xfrm>
            <a:off x="1457289" y="8458200"/>
            <a:ext cx="15372966" cy="37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025" dirty="0">
                <a:solidFill>
                  <a:srgbClr val="E9EC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Final Round: judge the live system — a self-healing agentic DeFi treasury with deployed Odra contracts and real on-chain trading, built Casper-native.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971526" y="9544050"/>
            <a:ext cx="1634449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ERAYA Casper · Self-Healing Agentic DeFi Treasury Swarm · Casper Agentic Buildathon 2026</a:t>
            </a:r>
            <a:endParaRPr lang="en-US" sz="1350" dirty="0"/>
          </a:p>
        </p:txBody>
      </p:sp>
      <p:sp>
        <p:nvSpPr>
          <p:cNvPr id="600" name="Extra 600"/>
          <p:cNvSpPr/>
          <p:nvPr/>
        </p:nvSpPr>
        <p:spPr>
          <a:xfrm>
            <a:off x="1333500" y="5689600"/>
            <a:ext cx="4524113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Built end-to-end: agents, Odra contracts, quant desk, voice.</a:t>
            </a:r>
            <a:endParaRPr lang="en-US" sz="1950" dirty="0"/>
          </a:p>
        </p:txBody>
      </p:sp>
      <p:sp>
        <p:nvSpPr>
          <p:cNvPr id="601" name="Extra 601"/>
          <p:cNvSpPr/>
          <p:nvPr/>
        </p:nvSpPr>
        <p:spPr>
          <a:xfrm>
            <a:off x="6883400" y="5689600"/>
            <a:ext cx="4524113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 allowances: Guest 30 CSPR/tx · member 100 · admin unlimited.</a:t>
            </a:r>
            <a:endParaRPr lang="en-US" sz="1950" dirty="0"/>
          </a:p>
        </p:txBody>
      </p:sp>
      <p:sp>
        <p:nvSpPr>
          <p:cNvPr id="602" name="Extra 602"/>
          <p:cNvSpPr/>
          <p:nvPr/>
        </p:nvSpPr>
        <p:spPr>
          <a:xfrm>
            <a:off x="12433300" y="5689600"/>
            <a:ext cx="4524113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Odra 2.9 · 7 MockVM tests · one-command deploy script.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1183329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61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484A510C-D9AC-4193-930F-18BC71043FC2}">
  <we:reference id="wa200010215" version="2.0.0.0" store="en-US" storeType="OMEX"/>
  <we:alternateReferences>
    <we:reference id="wa200010215" version="2.0.0.0" store="WA200010215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90B81470-FC54-420F-B439-39F44C24944F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ea2244ca-6b05-4eb8-8461-cf8efb5c256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1777</Words>
  <Application>Microsoft Office PowerPoint</Application>
  <PresentationFormat>Custom</PresentationFormat>
  <Paragraphs>245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Evolet</dc:creator>
  <cp:lastModifiedBy>PARDEEP SINGH</cp:lastModifiedBy>
  <cp:revision>4</cp:revision>
  <dcterms:modified xsi:type="dcterms:W3CDTF">2026-07-26T19:30:16Z</dcterms:modified>
</cp:coreProperties>
</file>