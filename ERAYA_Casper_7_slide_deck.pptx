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2bde76f834224" /><Relationship Type="http://schemas.openxmlformats.org/officeDocument/2006/relationships/extended-properties" Target="/docProps/app.xml" Id="R916de0db566e4e14" /><Relationship Type="http://schemas.openxmlformats.org/officeDocument/2006/relationships/officeDocument" Target="/ppt/presentation.xml" Id="R064f4d2dba674b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c827aca534bf5"/>
  </p:sldMasterIdLst>
  <p:notesMasterIdLst>
    <p:notesMasterId xmlns:r="http://schemas.openxmlformats.org/officeDocument/2006/relationships" r:id="R6700c301ee8e4291"/>
  </p:notesMasterIdLst>
  <p:sldIdLst>
    <p:sldId xmlns:r="http://schemas.openxmlformats.org/officeDocument/2006/relationships" id="256" r:id="Rd4900fc62a2247a0"/>
    <p:sldId xmlns:r="http://schemas.openxmlformats.org/officeDocument/2006/relationships" id="257" r:id="Rfbef6b2e8f7d4cb9"/>
    <p:sldId xmlns:r="http://schemas.openxmlformats.org/officeDocument/2006/relationships" id="258" r:id="R6b07e4d1502b4e8f"/>
    <p:sldId xmlns:r="http://schemas.openxmlformats.org/officeDocument/2006/relationships" id="259" r:id="Ra7e91517d31b40b6"/>
    <p:sldId xmlns:r="http://schemas.openxmlformats.org/officeDocument/2006/relationships" id="260" r:id="R6aa8cf52c4354915"/>
    <p:sldId xmlns:r="http://schemas.openxmlformats.org/officeDocument/2006/relationships" id="261" r:id="R43db19b410174da3"/>
    <p:sldId xmlns:r="http://schemas.openxmlformats.org/officeDocument/2006/relationships" id="262" r:id="Rd82357171dc54e1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c827aca534bf5" /><Relationship Type="http://schemas.openxmlformats.org/officeDocument/2006/relationships/theme" Target="/ppt/theme/theme1.xml" Id="R5c49d72ff7484e4c" /><Relationship Type="http://schemas.openxmlformats.org/officeDocument/2006/relationships/notesMaster" Target="/ppt/notesMasters/notesMaster1.xml" Id="R6700c301ee8e4291" /><Relationship Type="http://schemas.openxmlformats.org/officeDocument/2006/relationships/presProps" Target="/ppt/presProps.xml" Id="R3cb88ab0c682426d" /><Relationship Type="http://schemas.openxmlformats.org/officeDocument/2006/relationships/viewProps" Target="/ppt/viewProps.xml" Id="R4022191f8b9b4a97" /><Relationship Type="http://schemas.openxmlformats.org/officeDocument/2006/relationships/tableStyles" Target="/ppt/tableStyles.xml" Id="R04222bb4e8f14790" /><Relationship Type="http://schemas.openxmlformats.org/officeDocument/2006/relationships/slide" Target="/ppt/slides/slide1.xml" Id="Rd4900fc62a2247a0" /><Relationship Type="http://schemas.openxmlformats.org/officeDocument/2006/relationships/slide" Target="/ppt/slides/slide2.xml" Id="Rfbef6b2e8f7d4cb9" /><Relationship Type="http://schemas.openxmlformats.org/officeDocument/2006/relationships/slide" Target="/ppt/slides/slide3.xml" Id="R6b07e4d1502b4e8f" /><Relationship Type="http://schemas.openxmlformats.org/officeDocument/2006/relationships/slide" Target="/ppt/slides/slide4.xml" Id="Ra7e91517d31b40b6" /><Relationship Type="http://schemas.openxmlformats.org/officeDocument/2006/relationships/slide" Target="/ppt/slides/slide5.xml" Id="R6aa8cf52c4354915" /><Relationship Type="http://schemas.openxmlformats.org/officeDocument/2006/relationships/slide" Target="/ppt/slides/slide6.xml" Id="R43db19b410174da3" /><Relationship Type="http://schemas.openxmlformats.org/officeDocument/2006/relationships/slide" Target="/ppt/slides/slide7.xml" Id="Rd82357171dc5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83c7a49d7784d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ad8acf0434d61" /><Relationship Type="http://schemas.openxmlformats.org/officeDocument/2006/relationships/notesMaster" Target="/ppt/notesMasters/notesMaster1.xml" Id="R7cbbe78ad7da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bddf9d8d31495c" /><Relationship Type="http://schemas.openxmlformats.org/officeDocument/2006/relationships/notesMaster" Target="/ppt/notesMasters/notesMaster1.xml" Id="R01fddec29bdd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596da8e7b7440e" /><Relationship Type="http://schemas.openxmlformats.org/officeDocument/2006/relationships/notesMaster" Target="/ppt/notesMasters/notesMaster1.xml" Id="R4a1bac3258ca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f98bbed374462" /><Relationship Type="http://schemas.openxmlformats.org/officeDocument/2006/relationships/notesMaster" Target="/ppt/notesMasters/notesMaster1.xml" Id="Rd0ffa745599e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b0fdd0ed2148ee" /><Relationship Type="http://schemas.openxmlformats.org/officeDocument/2006/relationships/notesMaster" Target="/ppt/notesMasters/notesMaster1.xml" Id="Ra54eea062f0249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04825d32348b6" /><Relationship Type="http://schemas.openxmlformats.org/officeDocument/2006/relationships/notesMaster" Target="/ppt/notesMasters/notesMaster1.xml" Id="R2a3e2e975e3e40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9a696facaf4137" /><Relationship Type="http://schemas.openxmlformats.org/officeDocument/2006/relationships/notesMaster" Target="/ppt/notesMasters/notesMaster1.xml" Id="R0eddd673f5134b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bc2a12b454c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f27ba7945844f2" /><Relationship Type="http://schemas.openxmlformats.org/officeDocument/2006/relationships/slideLayout" Target="/ppt/slideLayouts/slideLayout2.xml" Id="R67425b540051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425b540051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d21dc07e74474" /><Relationship Type="http://schemas.openxmlformats.org/officeDocument/2006/relationships/notesSlide" Target="/ppt/notesSlides/notesSlide1.xml" Id="R0fe0c20a2e4540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033c01a314cca" /><Relationship Type="http://schemas.openxmlformats.org/officeDocument/2006/relationships/notesSlide" Target="/ppt/notesSlides/notesSlide2.xml" Id="R4ccd8bef9e9546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2294b3b969416c" /><Relationship Type="http://schemas.openxmlformats.org/officeDocument/2006/relationships/notesSlide" Target="/ppt/notesSlides/notesSlide3.xml" Id="R0754c0332957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eceb79d43e4742" /><Relationship Type="http://schemas.openxmlformats.org/officeDocument/2006/relationships/notesSlide" Target="/ppt/notesSlides/notesSlide4.xml" Id="Rf8db31364eab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9d8b8af9394ea7" /><Relationship Type="http://schemas.openxmlformats.org/officeDocument/2006/relationships/notesSlide" Target="/ppt/notesSlides/notesSlide5.xml" Id="R4ab4a0c7a4ae4c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74b0176df04d99" /><Relationship Type="http://schemas.openxmlformats.org/officeDocument/2006/relationships/chart" Target="/ppt/slides/charts/chart1.xml" Id="Rfd5161379a9647dc" /><Relationship Type="http://schemas.openxmlformats.org/officeDocument/2006/relationships/notesSlide" Target="/ppt/notesSlides/notesSlide6.xml" Id="Rf364ab09914340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1e53dc9a5f4e7f" /><Relationship Type="http://schemas.openxmlformats.org/officeDocument/2006/relationships/notesSlide" Target="/ppt/notesSlides/notesSlide7.xml" Id="Rfff0df7fcd324019" /></Relationships>
</file>

<file path=ppt/slides/charts/chart1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5F1EA"/>
      </a:solidFill>
    </c:spPr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/>
              <a:t>Portfolio Allocation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/>
          </a:pPr>
        </a:p>
      </c:txPr>
    </c:title>
    <c:autoTitleDeleted val="0"/>
    <c:plotArea>
      <c:layout/>
      <c:barChart>
        <c:barDir val="col"/>
        <c:varyColors val="0"/>
        <c:ser>
          <c:idx val="0"/>
          <c:order val="0"/>
          <c:tx>
            <c:v>Allocation %</c:v>
          </c:tx>
          <c:cat>
            <c:strLit>
              <c:ptCount val="4"/>
              <c:pt idx="0">
                <c:v>CSPR</c:v>
              </c:pt>
              <c:pt idx="1">
                <c:v>USDC</c:v>
              </c:pt>
              <c:pt idx="2">
                <c:v>LP</c:v>
              </c:pt>
              <c:pt idx="3">
                <c:v>Escrow</c:v>
              </c:pt>
            </c:strLit>
          </c:cat>
          <c:val>
            <c:numLit>
              <c:formatCode/>
              <c:ptCount val="4"/>
              <c:pt idx="0">
                <c:v>56.4</c:v>
              </c:pt>
              <c:pt idx="1">
                <c:v>22.9</c:v>
              </c:pt>
              <c:pt idx="2">
                <c:v>15.7</c:v>
              </c:pt>
              <c:pt idx="3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Asset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%</a:t>
                </a:r>
              </a:p>
            </c:rich>
          </c:tx>
        </c:title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9F0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E83E3B-6AAA-483F-A768-7D231AF8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cover-red-spine">
            <a:extLst xmlns:a="http://schemas.openxmlformats.org/drawingml/2006/main">
              <a:ext uri="{FF2B5EF4-FFF2-40B4-BE49-F238E27FC236}">
                <a16:creationId xmlns:a16="http://schemas.microsoft.com/office/drawing/2014/main" id="{880A4672-AC66-48C6-A8D9-24175B9B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3" name="cover-teal-spine">
            <a:extLst xmlns:a="http://schemas.openxmlformats.org/drawingml/2006/main">
              <a:ext uri="{FF2B5EF4-FFF2-40B4-BE49-F238E27FC236}">
                <a16:creationId xmlns:a16="http://schemas.microsoft.com/office/drawing/2014/main" id="{9A5F7C21-ACBD-4202-B2DC-E8B9CEBE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0"/>
            <a:ext cx="952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4" name="orbit-outer">
            <a:extLst xmlns:a="http://schemas.openxmlformats.org/drawingml/2006/main">
              <a:ext uri="{FF2B5EF4-FFF2-40B4-BE49-F238E27FC236}">
                <a16:creationId xmlns:a16="http://schemas.microsoft.com/office/drawing/2014/main" id="{BA838F69-19F5-44A1-B251-163B51B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00250"/>
            <a:ext cx="5715000" cy="571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38100">
            <a:solidFill>
              <a:srgbClr val="29424B"/>
            </a:solidFill>
            <a:prstDash val="solid"/>
          </a:ln>
        </p:spPr>
      </p:sp>
      <p:sp>
        <p:nvSpPr>
          <p:cNvPr id="5" name="orbit-mid">
            <a:extLst xmlns:a="http://schemas.openxmlformats.org/drawingml/2006/main">
              <a:ext uri="{FF2B5EF4-FFF2-40B4-BE49-F238E27FC236}">
                <a16:creationId xmlns:a16="http://schemas.microsoft.com/office/drawing/2014/main" id="{EB1B1AFC-BC81-4F2C-AE60-A35A91BA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905125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28575">
            <a:solidFill>
              <a:srgbClr val="38545B"/>
            </a:solidFill>
            <a:prstDash val="solid"/>
          </a:ln>
        </p:spPr>
      </p:sp>
      <p:sp>
        <p:nvSpPr>
          <p:cNvPr id="6" name="orbit-core">
            <a:extLst xmlns:a="http://schemas.openxmlformats.org/drawingml/2006/main">
              <a:ext uri="{FF2B5EF4-FFF2-40B4-BE49-F238E27FC236}">
                <a16:creationId xmlns:a16="http://schemas.microsoft.com/office/drawing/2014/main" id="{0BB23CA4-BE0B-447C-AA4D-358209E4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9814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28575">
            <a:solidFill>
              <a:srgbClr val="E7B657"/>
            </a:solidFill>
            <a:prstDash val="solid"/>
          </a:ln>
        </p:spPr>
      </p:sp>
      <p:sp>
        <p:nvSpPr>
          <p:cNvPr id="7" name="core-label">
            <a:extLst xmlns:a="http://schemas.openxmlformats.org/drawingml/2006/main">
              <a:ext uri="{FF2B5EF4-FFF2-40B4-BE49-F238E27FC236}">
                <a16:creationId xmlns:a16="http://schemas.microsoft.com/office/drawing/2014/main" id="{B682305B-10A5-45A8-923F-47A5A234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438650"/>
            <a:ext cx="16383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CASPER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DEFI</a:t>
            </a:r>
          </a:p>
        </p:txBody>
      </p:sp>
      <p:sp>
        <p:nvSpPr>
          <p:cNvPr id="8" name="cover-perceiver-node">
            <a:extLst xmlns:a="http://schemas.openxmlformats.org/drawingml/2006/main">
              <a:ext uri="{FF2B5EF4-FFF2-40B4-BE49-F238E27FC236}">
                <a16:creationId xmlns:a16="http://schemas.microsoft.com/office/drawing/2014/main" id="{8D234E85-051C-47E7-AD90-79341AFC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95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9" name="cover-perceiver-link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1201961" y="3276039"/>
            <a:ext cx="1989652" cy="9620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16B75"/>
            </a:solidFill>
            <a:prstDash val="solid"/>
          </a:ln>
        </p:spPr>
      </p:cxnSp>
      <p:sp>
        <p:nvSpPr>
          <p:cNvPr id="10" name="cover-perceiver-label">
            <a:extLst xmlns:a="http://schemas.openxmlformats.org/drawingml/2006/main">
              <a:ext uri="{FF2B5EF4-FFF2-40B4-BE49-F238E27FC236}">
                <a16:creationId xmlns:a16="http://schemas.microsoft.com/office/drawing/2014/main" id="{D805FFAD-0B14-4DF4-B834-1258B86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62350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Perceiver</a:t>
            </a:r>
          </a:p>
        </p:txBody>
      </p:sp>
      <p:sp>
        <p:nvSpPr>
          <p:cNvPr id="11" name="cover-planner-node">
            <a:extLst xmlns:a="http://schemas.openxmlformats.org/drawingml/2006/main">
              <a:ext uri="{FF2B5EF4-FFF2-40B4-BE49-F238E27FC236}">
                <a16:creationId xmlns:a16="http://schemas.microsoft.com/office/drawing/2014/main" id="{A56AAA80-4221-49FE-9F8C-9E1E21B8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2609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12" name="cover-planner-link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13191612" y="3390339"/>
            <a:ext cx="2258498" cy="84777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16B75"/>
            </a:solidFill>
            <a:prstDash val="solid"/>
          </a:ln>
        </p:spPr>
      </p:cxnSp>
      <p:sp>
        <p:nvSpPr>
          <p:cNvPr id="13" name="cover-planner-label">
            <a:extLst xmlns:a="http://schemas.openxmlformats.org/drawingml/2006/main">
              <a:ext uri="{FF2B5EF4-FFF2-40B4-BE49-F238E27FC236}">
                <a16:creationId xmlns:a16="http://schemas.microsoft.com/office/drawing/2014/main" id="{B37325ED-4374-4F81-9973-41C60EF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676650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Planner</a:t>
            </a:r>
          </a:p>
        </p:txBody>
      </p:sp>
      <p:sp>
        <p:nvSpPr>
          <p:cNvPr id="14" name="cover-recoverer-node">
            <a:extLst xmlns:a="http://schemas.openxmlformats.org/drawingml/2006/main">
              <a:ext uri="{FF2B5EF4-FFF2-40B4-BE49-F238E27FC236}">
                <a16:creationId xmlns:a16="http://schemas.microsoft.com/office/drawing/2014/main" id="{581EAE52-1209-4630-A959-267E121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6305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D6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15" name="cover-recoverer-link"/>
          <p:cNvCxnSpPr>
            <a:stCxn xmlns:a="http://schemas.openxmlformats.org/drawingml/2006/main" id="1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 flipV="1">
            <a:off x="13191612" y="4238112"/>
            <a:ext cx="2296598" cy="284792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16B75"/>
            </a:solidFill>
            <a:prstDash val="solid"/>
          </a:ln>
        </p:spPr>
      </p:cxnSp>
      <p:sp>
        <p:nvSpPr>
          <p:cNvPr id="16" name="cover-recoverer-label">
            <a:extLst xmlns:a="http://schemas.openxmlformats.org/drawingml/2006/main">
              <a:ext uri="{FF2B5EF4-FFF2-40B4-BE49-F238E27FC236}">
                <a16:creationId xmlns:a16="http://schemas.microsoft.com/office/drawing/2014/main" id="{D4B45454-E9F1-476F-B873-412A3976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7372350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Recoverer</a:t>
            </a:r>
          </a:p>
        </p:txBody>
      </p:sp>
      <p:sp>
        <p:nvSpPr>
          <p:cNvPr id="17" name="cover-guardian-node">
            <a:extLst xmlns:a="http://schemas.openxmlformats.org/drawingml/2006/main">
              <a:ext uri="{FF2B5EF4-FFF2-40B4-BE49-F238E27FC236}">
                <a16:creationId xmlns:a16="http://schemas.microsoft.com/office/drawing/2014/main" id="{CEA85A7A-B7C2-4800-AE87-E5FE20F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18" name="cover-guardian-link"/>
          <p:cNvCxnSpPr>
            <a:stCxn xmlns:a="http://schemas.openxmlformats.org/drawingml/2006/main" id="1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1201961" y="4238112"/>
            <a:ext cx="1989652" cy="294317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16B75"/>
            </a:solidFill>
            <a:prstDash val="solid"/>
          </a:ln>
        </p:spPr>
      </p:cxnSp>
      <p:sp>
        <p:nvSpPr>
          <p:cNvPr id="19" name="cover-guardian-label">
            <a:extLst xmlns:a="http://schemas.openxmlformats.org/drawingml/2006/main">
              <a:ext uri="{FF2B5EF4-FFF2-40B4-BE49-F238E27FC236}">
                <a16:creationId xmlns:a16="http://schemas.microsoft.com/office/drawing/2014/main" id="{F6103687-48DA-4350-95C6-34637C8D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467600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Guardian</a:t>
            </a:r>
          </a:p>
        </p:txBody>
      </p:sp>
      <p:sp>
        <p:nvSpPr>
          <p:cNvPr id="2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47EACB6-908B-47E8-ACEE-59C1082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4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B8A6"/>
                </a:solidFill>
                <a:latin typeface="Cascadia Mono"/>
                <a:ea typeface="Cascadia Mono"/>
                <a:cs typeface="Cascadia Mono"/>
              </a:defRPr>
            </a:pPr>
            <a:r>
              <a:t>MICROSOFT BUILD AI HACKATHON 2026 / CASPER BRANCH</a:t>
            </a:r>
          </a:p>
        </p:txBody>
      </p:sp>
      <p:sp>
        <p:nvSpPr>
          <p:cNvPr id="2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0CC5D1-B8C3-44CD-855D-1C424E4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8763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ERAYA Casper</a:t>
            </a:r>
          </a:p>
          <a:p xmlns:a="http://schemas.openxmlformats.org/drawingml/2006/main">
            <a:pPr algn="l">
              <a:defRPr sz="57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DeFi Swarm</a:t>
            </a:r>
          </a:p>
        </p:txBody>
      </p:sp>
      <p:sp>
        <p:nvSpPr>
          <p:cNvPr id="2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364D616-5BE3-4B37-B8EB-7828B8E0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8382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A self-healing, security-first multi-agent treasury system: quorum before execution, KAVACHA before damage, x402 inside the agent economy.</a:t>
            </a:r>
          </a:p>
        </p:txBody>
      </p:sp>
      <p:sp>
        <p:nvSpPr>
          <p:cNvPr id="23" name="cover-live-shape">
            <a:extLst xmlns:a="http://schemas.openxmlformats.org/drawingml/2006/main">
              <a:ext uri="{FF2B5EF4-FFF2-40B4-BE49-F238E27FC236}">
                <a16:creationId xmlns:a16="http://schemas.microsoft.com/office/drawing/2014/main" id="{F58980A8-593A-4EBB-9A4B-1800EED9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0">
            <a:solidFill>
              <a:srgbClr val="17232C"/>
            </a:solidFill>
            <a:prstDash val="solid"/>
          </a:ln>
        </p:spPr>
      </p:sp>
      <p:sp>
        <p:nvSpPr>
          <p:cNvPr id="24" name="cover-live-text">
            <a:extLst xmlns:a="http://schemas.openxmlformats.org/drawingml/2006/main">
              <a:ext uri="{FF2B5EF4-FFF2-40B4-BE49-F238E27FC236}">
                <a16:creationId xmlns:a16="http://schemas.microsoft.com/office/drawing/2014/main" id="{B30F142B-2FBF-4E1F-93AB-0BF26243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62950"/>
            <a:ext cx="483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http://35.255.196.78/eraya</a:t>
            </a:r>
          </a:p>
        </p:txBody>
      </p:sp>
      <p:sp>
        <p:nvSpPr>
          <p:cNvPr id="25" name="cover-branch-shape">
            <a:extLst xmlns:a="http://schemas.openxmlformats.org/drawingml/2006/main">
              <a:ext uri="{FF2B5EF4-FFF2-40B4-BE49-F238E27FC236}">
                <a16:creationId xmlns:a16="http://schemas.microsoft.com/office/drawing/2014/main" id="{1609DF64-AD5F-4C60-8AC2-04AF5D0D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286750"/>
            <a:ext cx="3905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E2F2C"/>
          </a:solidFill>
          <a:ln xmlns:a="http://schemas.openxmlformats.org/drawingml/2006/main" w="0">
            <a:solidFill>
              <a:srgbClr val="8E2F2C"/>
            </a:solidFill>
            <a:prstDash val="solid"/>
          </a:ln>
        </p:spPr>
      </p:sp>
      <p:sp>
        <p:nvSpPr>
          <p:cNvPr id="26" name="cover-branch-text">
            <a:extLst xmlns:a="http://schemas.openxmlformats.org/drawingml/2006/main">
              <a:ext uri="{FF2B5EF4-FFF2-40B4-BE49-F238E27FC236}">
                <a16:creationId xmlns:a16="http://schemas.microsoft.com/office/drawing/2014/main" id="{CC547C14-CE95-4F38-8AB1-0F12D63F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8362950"/>
            <a:ext cx="360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branch: caspr / deployed under /eraya</a:t>
            </a:r>
          </a:p>
        </p:txBody>
      </p:sp>
      <p:sp>
        <p:nvSpPr>
          <p:cNvPr id="27" name="footer-1">
            <a:extLst xmlns:a="http://schemas.openxmlformats.org/drawingml/2006/main">
              <a:ext uri="{FF2B5EF4-FFF2-40B4-BE49-F238E27FC236}">
                <a16:creationId xmlns:a16="http://schemas.microsoft.com/office/drawing/2014/main" id="{596E707C-6D3B-4E99-8746-BDD01C6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94A1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1 of 7</a:t>
            </a:r>
          </a:p>
        </p:txBody>
      </p:sp>
    </p:spTree>
    <p:extLst>
      <p:ext uri="{BB962C8B-B14F-4D97-AF65-F5344CB8AC3E}">
        <p14:creationId xmlns:p14="http://schemas.microsoft.com/office/powerpoint/2010/main" val="1637548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3A226B-0A54-4AE8-8328-72DCC6E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solidFill>
              <a:srgbClr val="F5F1EA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52DF45C-E4D8-4F26-9F37-0F93A3D3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E2F2C"/>
                </a:solidFill>
                <a:latin typeface="Cascadia Mono"/>
                <a:ea typeface="Cascadia Mono"/>
                <a:cs typeface="Cascadia Mono"/>
              </a:defRPr>
            </a:pPr>
            <a:r>
              <a:t>WHY THIS EXISTS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F8AF49-EC48-420A-BB2E-2C866126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668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DeFi does not fail politely.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8E69179-8B30-420A-9A37-46549240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A solo agent can trade. A resilient treasury needs agents that can disagree, recover, and prove why they acted.</a:t>
            </a:r>
          </a:p>
        </p:txBody>
      </p:sp>
      <p:sp>
        <p:nvSpPr>
          <p:cNvPr id="5" name="problem-big">
            <a:extLst xmlns:a="http://schemas.openxmlformats.org/drawingml/2006/main">
              <a:ext uri="{FF2B5EF4-FFF2-40B4-BE49-F238E27FC236}">
                <a16:creationId xmlns:a16="http://schemas.microsoft.com/office/drawing/2014/main" id="{4DE71287-D580-445F-A623-2C6B482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239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Most agent demos optimize the happy path.</a:t>
            </a:r>
          </a:p>
        </p:txBody>
      </p:sp>
      <p:sp>
        <p:nvSpPr>
          <p:cNvPr id="6" name="problem-rule">
            <a:extLst xmlns:a="http://schemas.openxmlformats.org/drawingml/2006/main">
              <a:ext uri="{FF2B5EF4-FFF2-40B4-BE49-F238E27FC236}">
                <a16:creationId xmlns:a16="http://schemas.microsoft.com/office/drawing/2014/main" id="{48962D0B-C349-434C-8BF2-BBDE890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531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7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B925D2C2-8632-43C5-ACBE-68A7F764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48400"/>
            <a:ext cx="628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42505A"/>
                </a:solidFill>
                <a:latin typeface="Aptos"/>
                <a:ea typeface="Aptos"/>
                <a:cs typeface="Aptos"/>
              </a:defRPr>
            </a:pPr>
            <a:r>
              <a:t>On-chain systems punish missing failure paths with real loss, not just a bad log line.</a:t>
            </a:r>
          </a:p>
        </p:txBody>
      </p:sp>
      <p:sp>
        <p:nvSpPr>
          <p:cNvPr id="8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AB1CDE80-851D-43D3-8454-8EB44AED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686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9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4947A5A8-7C8D-4566-8A2A-2859798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No on-chain agent identity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3C06374D-B250-424B-BB38-C056401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AgentCards vanish on restart and cannot be independently verified.</a:t>
            </a:r>
          </a:p>
        </p:txBody>
      </p:sp>
      <p:sp>
        <p:nvSpPr>
          <p:cNvPr id="11" name="problem-sep-0">
            <a:extLst xmlns:a="http://schemas.openxmlformats.org/drawingml/2006/main">
              <a:ext uri="{FF2B5EF4-FFF2-40B4-BE49-F238E27FC236}">
                <a16:creationId xmlns:a16="http://schemas.microsoft.com/office/drawing/2014/main" id="{32BCF1C9-A956-44D8-9616-D60639C0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solidFill>
              <a:srgbClr val="D5D0C7"/>
            </a:solidFill>
            <a:prstDash val="solid"/>
          </a:ln>
        </p:spPr>
      </p:sp>
      <p:sp>
        <p:nvSpPr>
          <p:cNvPr id="12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6FCAA6DE-CC10-482D-A33D-963324E7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038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3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98838FE7-93B3-46B1-967D-1A37C1C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911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Free inter-agent calls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1A5EEF95-1BCF-482B-B5C6-0CD75425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4102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No economic signal for useful planning, vetoes, or recovery work.</a:t>
            </a:r>
          </a:p>
        </p:txBody>
      </p:sp>
      <p:sp>
        <p:nvSpPr>
          <p:cNvPr id="15" name="problem-sep-1">
            <a:extLst xmlns:a="http://schemas.openxmlformats.org/drawingml/2006/main">
              <a:ext uri="{FF2B5EF4-FFF2-40B4-BE49-F238E27FC236}">
                <a16:creationId xmlns:a16="http://schemas.microsoft.com/office/drawing/2014/main" id="{D83B7A48-4BF8-4423-8128-CC45045F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150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solidFill>
              <a:srgbClr val="D5D0C7"/>
            </a:solidFill>
            <a:prstDash val="solid"/>
          </a:ln>
        </p:spPr>
      </p:sp>
      <p:sp>
        <p:nvSpPr>
          <p:cNvPr id="16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F04E2EDF-AB6D-4ECD-AEB4-DDB016C0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39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0">
            <a:solidFill>
              <a:srgbClr val="E7B657"/>
            </a:solidFill>
            <a:prstDash val="solid"/>
          </a:ln>
        </p:spPr>
      </p:sp>
      <p:sp>
        <p:nvSpPr>
          <p:cNvPr id="17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7456520F-1E4E-4078-81E9-A6689CB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4365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One-agent decisions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E063646C-AD02-400B-9E0E-4BB1B511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76275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Critical DeFi moves need quorum and adversarial review.</a:t>
            </a:r>
          </a:p>
        </p:txBody>
      </p:sp>
      <p:sp>
        <p:nvSpPr>
          <p:cNvPr id="19" name="problem-sep-2">
            <a:extLst xmlns:a="http://schemas.openxmlformats.org/drawingml/2006/main">
              <a:ext uri="{FF2B5EF4-FFF2-40B4-BE49-F238E27FC236}">
                <a16:creationId xmlns:a16="http://schemas.microsoft.com/office/drawing/2014/main" id="{6CA521DD-C2A9-46AC-A55F-0C8847A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4676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solidFill>
              <a:srgbClr val="D5D0C7"/>
            </a:solidFill>
            <a:prstDash val="solid"/>
          </a:ln>
        </p:spPr>
      </p:sp>
      <p:sp>
        <p:nvSpPr>
          <p:cNvPr id="20" name="problem-dot-3">
            <a:extLst xmlns:a="http://schemas.openxmlformats.org/drawingml/2006/main">
              <a:ext uri="{FF2B5EF4-FFF2-40B4-BE49-F238E27FC236}">
                <a16:creationId xmlns:a16="http://schemas.microsoft.com/office/drawing/2014/main" id="{DDF42B5F-3062-490D-8BAF-B83AC575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7743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C"/>
          </a:solidFill>
          <a:ln xmlns:a="http://schemas.openxmlformats.org/drawingml/2006/main" w="0">
            <a:solidFill>
              <a:srgbClr val="8E2F2C"/>
            </a:solidFill>
            <a:prstDash val="solid"/>
          </a:ln>
        </p:spPr>
      </p:sp>
      <p:sp>
        <p:nvSpPr>
          <p:cNvPr id="21" name="problem-head-3">
            <a:extLst xmlns:a="http://schemas.openxmlformats.org/drawingml/2006/main">
              <a:ext uri="{FF2B5EF4-FFF2-40B4-BE49-F238E27FC236}">
                <a16:creationId xmlns:a16="http://schemas.microsoft.com/office/drawing/2014/main" id="{FEFD74E5-8A41-4050-86E0-70B52717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6962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Reactive security</a:t>
            </a:r>
          </a:p>
        </p:txBody>
      </p:sp>
      <p:sp>
        <p:nvSpPr>
          <p:cNvPr id="22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E44A1976-5B6A-4067-B4FA-780D032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115300"/>
            <a:ext cx="619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Threats should be hunted before a bad deploy lands.</a:t>
            </a:r>
          </a:p>
        </p:txBody>
      </p:sp>
      <p:sp>
        <p:nvSpPr>
          <p:cNvPr id="23" name="problem-sep-3">
            <a:extLst xmlns:a="http://schemas.openxmlformats.org/drawingml/2006/main">
              <a:ext uri="{FF2B5EF4-FFF2-40B4-BE49-F238E27FC236}">
                <a16:creationId xmlns:a16="http://schemas.microsoft.com/office/drawing/2014/main" id="{482AEF98-276E-42C1-9AAA-1127FE97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88201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solidFill>
              <a:srgbClr val="D5D0C7"/>
            </a:solidFill>
            <a:prstDash val="solid"/>
          </a:ln>
        </p:spPr>
      </p:sp>
      <p:sp>
        <p:nvSpPr>
          <p:cNvPr id="24" name="footer-2">
            <a:extLst xmlns:a="http://schemas.openxmlformats.org/drawingml/2006/main">
              <a:ext uri="{FF2B5EF4-FFF2-40B4-BE49-F238E27FC236}">
                <a16:creationId xmlns:a16="http://schemas.microsoft.com/office/drawing/2014/main" id="{F25D28D0-95C7-4CCB-ABAD-EB62B82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A72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2 of 7</a:t>
            </a:r>
          </a:p>
        </p:txBody>
      </p:sp>
    </p:spTree>
    <p:extLst>
      <p:ext uri="{BB962C8B-B14F-4D97-AF65-F5344CB8AC3E}">
        <p14:creationId xmlns:p14="http://schemas.microsoft.com/office/powerpoint/2010/main" val="9907016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8A85685-02BD-4FFE-8A6B-E502BC2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A462600-55DD-4BDD-B7D5-8D92320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B8A6"/>
                </a:solidFill>
                <a:latin typeface="Cascadia Mono"/>
                <a:ea typeface="Cascadia Mono"/>
                <a:cs typeface="Cascadia Mono"/>
              </a:defRPr>
            </a:pPr>
            <a:r>
              <a:t>SOLUTION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8A2F3A-46FF-4618-A98C-3AB7250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668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ERAYA turns a DeFi treasury into an immune system.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94E3445-BB11-451E-BF23-80335E91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Four agent archetypes share context, vote on high-stakes moves, and degrade through a 3-tier cascade instead of failing closed.</a:t>
            </a:r>
          </a:p>
        </p:txBody>
      </p:sp>
      <p:sp>
        <p:nvSpPr>
          <p:cNvPr id="5" name="solution-core">
            <a:extLst xmlns:a="http://schemas.openxmlformats.org/drawingml/2006/main">
              <a:ext uri="{FF2B5EF4-FFF2-40B4-BE49-F238E27FC236}">
                <a16:creationId xmlns:a16="http://schemas.microsoft.com/office/drawing/2014/main" id="{A58B073A-0258-44A6-96A2-23FA893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38100">
            <a:solidFill>
              <a:srgbClr val="E7B657"/>
            </a:solidFill>
            <a:prstDash val="solid"/>
          </a:ln>
        </p:spPr>
      </p:sp>
      <p:sp>
        <p:nvSpPr>
          <p:cNvPr id="6" name="solution-core-label">
            <a:extLst xmlns:a="http://schemas.openxmlformats.org/drawingml/2006/main">
              <a:ext uri="{FF2B5EF4-FFF2-40B4-BE49-F238E27FC236}">
                <a16:creationId xmlns:a16="http://schemas.microsoft.com/office/drawing/2014/main" id="{686EF611-AC2F-4C8E-A606-A46322C5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24450"/>
            <a:ext cx="190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TREASURY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STATE</a:t>
            </a:r>
          </a:p>
        </p:txBody>
      </p:sp>
      <p:sp>
        <p:nvSpPr>
          <p:cNvPr id="7" name="solution-perceiver">
            <a:extLst xmlns:a="http://schemas.openxmlformats.org/drawingml/2006/main">
              <a:ext uri="{FF2B5EF4-FFF2-40B4-BE49-F238E27FC236}">
                <a16:creationId xmlns:a16="http://schemas.microsoft.com/office/drawing/2014/main" id="{21566287-0FA3-493C-994B-8DD443E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8" name="solution-link-Perceiver"/>
          <p:cNvCxnSpPr>
            <a:stCxn xmlns:a="http://schemas.openxmlformats.org/drawingml/2006/main" id="7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18155" y="4430595"/>
            <a:ext cx="3784974" cy="448284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C6570"/>
            </a:solidFill>
            <a:prstDash val="solid"/>
          </a:ln>
        </p:spPr>
      </p:cxnSp>
      <p:sp>
        <p:nvSpPr>
          <p:cNvPr id="9" name="solution-agent-Perceiver">
            <a:extLst xmlns:a="http://schemas.openxmlformats.org/drawingml/2006/main">
              <a:ext uri="{FF2B5EF4-FFF2-40B4-BE49-F238E27FC236}">
                <a16:creationId xmlns:a16="http://schemas.microsoft.com/office/drawing/2014/main" id="{9EEDCEB1-DB27-4921-B1F0-77FD8CAA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3870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Perceiver</a:t>
            </a:r>
          </a:p>
        </p:txBody>
      </p:sp>
      <p:sp>
        <p:nvSpPr>
          <p:cNvPr id="10" name="solution-copy-Perceiver">
            <a:extLst xmlns:a="http://schemas.openxmlformats.org/drawingml/2006/main">
              <a:ext uri="{FF2B5EF4-FFF2-40B4-BE49-F238E27FC236}">
                <a16:creationId xmlns:a16="http://schemas.microsoft.com/office/drawing/2014/main" id="{2387CA38-7D28-43D9-9DAB-1A7C241D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Reads Casper DeFi signals and risk features</a:t>
            </a:r>
          </a:p>
        </p:txBody>
      </p:sp>
      <p:sp>
        <p:nvSpPr>
          <p:cNvPr id="11" name="solution-planner">
            <a:extLst xmlns:a="http://schemas.openxmlformats.org/drawingml/2006/main">
              <a:ext uri="{FF2B5EF4-FFF2-40B4-BE49-F238E27FC236}">
                <a16:creationId xmlns:a16="http://schemas.microsoft.com/office/drawing/2014/main" id="{B98F2BA6-5E34-4CE5-8BD7-AF5C49F4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1623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12" name="solution-link-Planner"/>
          <p:cNvCxnSpPr>
            <a:stCxn xmlns:a="http://schemas.openxmlformats.org/drawingml/2006/main" id="11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8403129" y="4430595"/>
            <a:ext cx="4216026" cy="448284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C6570"/>
            </a:solidFill>
            <a:prstDash val="solid"/>
          </a:ln>
        </p:spPr>
      </p:cxnSp>
      <p:sp>
        <p:nvSpPr>
          <p:cNvPr id="13" name="solution-agent-Planner">
            <a:extLst xmlns:a="http://schemas.openxmlformats.org/drawingml/2006/main">
              <a:ext uri="{FF2B5EF4-FFF2-40B4-BE49-F238E27FC236}">
                <a16:creationId xmlns:a16="http://schemas.microsoft.com/office/drawing/2014/main" id="{41554CF0-29EF-4334-807D-9814A53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3870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Planner</a:t>
            </a:r>
          </a:p>
        </p:txBody>
      </p:sp>
      <p:sp>
        <p:nvSpPr>
          <p:cNvPr id="14" name="solution-copy-Planner">
            <a:extLst xmlns:a="http://schemas.openxmlformats.org/drawingml/2006/main">
              <a:ext uri="{FF2B5EF4-FFF2-40B4-BE49-F238E27FC236}">
                <a16:creationId xmlns:a16="http://schemas.microsoft.com/office/drawing/2014/main" id="{6C81D6BD-6EBD-4E38-A567-19E01970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5780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Generates risk-adjusted rebalance actions</a:t>
            </a:r>
          </a:p>
        </p:txBody>
      </p:sp>
      <p:sp>
        <p:nvSpPr>
          <p:cNvPr id="15" name="solution-recoverer">
            <a:extLst xmlns:a="http://schemas.openxmlformats.org/drawingml/2006/main">
              <a:ext uri="{FF2B5EF4-FFF2-40B4-BE49-F238E27FC236}">
                <a16:creationId xmlns:a16="http://schemas.microsoft.com/office/drawing/2014/main" id="{5A7EF765-3F54-45BD-8ECB-722AFC72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5913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D68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16" name="solution-link-Recoverer"/>
          <p:cNvCxnSpPr>
            <a:stCxn xmlns:a="http://schemas.openxmlformats.org/drawingml/2006/main" id="15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8403129" y="4878879"/>
            <a:ext cx="4216026" cy="298071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C6570"/>
            </a:solidFill>
            <a:prstDash val="solid"/>
          </a:ln>
        </p:spPr>
      </p:cxnSp>
      <p:sp>
        <p:nvSpPr>
          <p:cNvPr id="17" name="solution-agent-Recoverer">
            <a:extLst xmlns:a="http://schemas.openxmlformats.org/drawingml/2006/main">
              <a:ext uri="{FF2B5EF4-FFF2-40B4-BE49-F238E27FC236}">
                <a16:creationId xmlns:a16="http://schemas.microsoft.com/office/drawing/2014/main" id="{07807D51-0464-46F9-8BD7-598CFDAF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26770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Recoverer</a:t>
            </a:r>
          </a:p>
        </p:txBody>
      </p:sp>
      <p:sp>
        <p:nvSpPr>
          <p:cNvPr id="18" name="solution-copy-Recoverer">
            <a:extLst xmlns:a="http://schemas.openxmlformats.org/drawingml/2006/main">
              <a:ext uri="{FF2B5EF4-FFF2-40B4-BE49-F238E27FC236}">
                <a16:creationId xmlns:a16="http://schemas.microsoft.com/office/drawing/2014/main" id="{FCB24CFB-AF58-4A48-9B55-01C1DC46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68680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Keeps rollback and retry paths ready</a:t>
            </a:r>
          </a:p>
        </p:txBody>
      </p:sp>
      <p:sp>
        <p:nvSpPr>
          <p:cNvPr id="19" name="solution-guardian">
            <a:extLst xmlns:a="http://schemas.openxmlformats.org/drawingml/2006/main">
              <a:ext uri="{FF2B5EF4-FFF2-40B4-BE49-F238E27FC236}">
                <a16:creationId xmlns:a16="http://schemas.microsoft.com/office/drawing/2014/main" id="{AE40B8C6-DC74-41A9-89F1-6D42BD30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913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cxnSp>
        <p:nvCxnSpPr>
          <p:cNvPr id="20" name="solution-link-Guardian"/>
          <p:cNvCxnSpPr>
            <a:stCxn xmlns:a="http://schemas.openxmlformats.org/drawingml/2006/main" id="19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618155" y="4878879"/>
            <a:ext cx="3784974" cy="298071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C6570"/>
            </a:solidFill>
            <a:prstDash val="solid"/>
          </a:ln>
        </p:spPr>
      </p:cxnSp>
      <p:sp>
        <p:nvSpPr>
          <p:cNvPr id="21" name="solution-agent-Guardian">
            <a:extLst xmlns:a="http://schemas.openxmlformats.org/drawingml/2006/main">
              <a:ext uri="{FF2B5EF4-FFF2-40B4-BE49-F238E27FC236}">
                <a16:creationId xmlns:a16="http://schemas.microsoft.com/office/drawing/2014/main" id="{691051A8-4071-4B14-A6E3-1347BF7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26770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Guardian</a:t>
            </a:r>
          </a:p>
        </p:txBody>
      </p:sp>
      <p:sp>
        <p:nvSpPr>
          <p:cNvPr id="22" name="solution-copy-Guardian">
            <a:extLst xmlns:a="http://schemas.openxmlformats.org/drawingml/2006/main">
              <a:ext uri="{FF2B5EF4-FFF2-40B4-BE49-F238E27FC236}">
                <a16:creationId xmlns:a16="http://schemas.microsoft.com/office/drawing/2014/main" id="{17208541-F68B-4668-A323-8D13EE8F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68680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Blocks unsafe actions with KAVACHA rules</a:t>
            </a:r>
          </a:p>
        </p:txBody>
      </p:sp>
      <p:sp>
        <p:nvSpPr>
          <p:cNvPr id="23" name="solution-cascade-shape">
            <a:extLst xmlns:a="http://schemas.openxmlformats.org/drawingml/2006/main">
              <a:ext uri="{FF2B5EF4-FFF2-40B4-BE49-F238E27FC236}">
                <a16:creationId xmlns:a16="http://schemas.microsoft.com/office/drawing/2014/main" id="{90095BCB-12F2-4E6B-87DB-39224671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048750"/>
            <a:ext cx="6629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0">
            <a:solidFill>
              <a:srgbClr val="17232C"/>
            </a:solidFill>
            <a:prstDash val="solid"/>
          </a:ln>
        </p:spPr>
      </p:sp>
      <p:sp>
        <p:nvSpPr>
          <p:cNvPr id="24" name="solution-cascade-text">
            <a:extLst xmlns:a="http://schemas.openxmlformats.org/drawingml/2006/main">
              <a:ext uri="{FF2B5EF4-FFF2-40B4-BE49-F238E27FC236}">
                <a16:creationId xmlns:a16="http://schemas.microsoft.com/office/drawing/2014/main" id="{5761E8FC-1B58-43FE-997F-5E5BD8ED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9124950"/>
            <a:ext cx="632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5F1EA"/>
                </a:solidFill>
                <a:latin typeface="Cascadia Mono"/>
                <a:ea typeface="Cascadia Mono"/>
                <a:cs typeface="Cascadia Mono"/>
              </a:defRPr>
            </a:pPr>
            <a:r>
              <a:t>3-tier cascade: GPU/LLM -&gt; CPU models -&gt; deterministic rules</a:t>
            </a:r>
          </a:p>
        </p:txBody>
      </p:sp>
      <p:sp>
        <p:nvSpPr>
          <p:cNvPr id="25" name="footer-3">
            <a:extLst xmlns:a="http://schemas.openxmlformats.org/drawingml/2006/main">
              <a:ext uri="{FF2B5EF4-FFF2-40B4-BE49-F238E27FC236}">
                <a16:creationId xmlns:a16="http://schemas.microsoft.com/office/drawing/2014/main" id="{3959A86D-DFB7-4ABA-89D7-E4B61063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94A1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3 of 7</a:t>
            </a:r>
          </a:p>
        </p:txBody>
      </p:sp>
    </p:spTree>
    <p:extLst>
      <p:ext uri="{BB962C8B-B14F-4D97-AF65-F5344CB8AC3E}">
        <p14:creationId xmlns:p14="http://schemas.microsoft.com/office/powerpoint/2010/main" val="20189513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AB00A3-4F1D-4601-B10F-5B52126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solidFill>
              <a:srgbClr val="F5F1EA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ABE09F3-F6A1-4E56-9C12-ADF9E9C7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E2F2C"/>
                </a:solidFill>
                <a:latin typeface="Cascadia Mono"/>
                <a:ea typeface="Cascadia Mono"/>
                <a:cs typeface="Cascadia Mono"/>
              </a:defRPr>
            </a:pPr>
            <a:r>
              <a:t>ARCHITECTURE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967431-6DA4-488D-A7F2-BE807DD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668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The deployed path is product, swarm, and Casper layer in one loop.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26F62CA-D779-4607-99E2-095EA40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Operator actions and live domain telemetry flow through Django Channels into the ERAYA core, then out to Casper-aware tools.</a:t>
            </a:r>
          </a:p>
        </p:txBody>
      </p:sp>
      <p:sp>
        <p:nvSpPr>
          <p:cNvPr id="5" name="arch-Next.js console">
            <a:extLst xmlns:a="http://schemas.openxmlformats.org/drawingml/2006/main">
              <a:ext uri="{FF2B5EF4-FFF2-40B4-BE49-F238E27FC236}">
                <a16:creationId xmlns:a16="http://schemas.microsoft.com/office/drawing/2014/main" id="{8C4BD740-598B-4B25-B9E1-C752C3C5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857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6" name="arch-head-Next.js console">
            <a:extLst xmlns:a="http://schemas.openxmlformats.org/drawingml/2006/main">
              <a:ext uri="{FF2B5EF4-FFF2-40B4-BE49-F238E27FC236}">
                <a16:creationId xmlns:a16="http://schemas.microsoft.com/office/drawing/2014/main" id="{9448764C-08C0-4389-98CC-5069930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2362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Next.js console</a:t>
            </a:r>
          </a:p>
        </p:txBody>
      </p:sp>
      <p:sp>
        <p:nvSpPr>
          <p:cNvPr id="7" name="arch-body-Next.js console">
            <a:extLst xmlns:a="http://schemas.openxmlformats.org/drawingml/2006/main">
              <a:ext uri="{FF2B5EF4-FFF2-40B4-BE49-F238E27FC236}">
                <a16:creationId xmlns:a16="http://schemas.microsoft.com/office/drawing/2014/main" id="{6185B012-6731-456C-970E-9955B02E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0200"/>
            <a:ext cx="22098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DeFi portfolio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Threat radar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Consensus UI</a:t>
            </a:r>
          </a:p>
        </p:txBody>
      </p:sp>
      <p:sp>
        <p:nvSpPr>
          <p:cNvPr id="8" name="arch-Django + Channels">
            <a:extLst xmlns:a="http://schemas.openxmlformats.org/drawingml/2006/main">
              <a:ext uri="{FF2B5EF4-FFF2-40B4-BE49-F238E27FC236}">
                <a16:creationId xmlns:a16="http://schemas.microsoft.com/office/drawing/2014/main" id="{FDD1CB69-F12F-450C-8471-E4494166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857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E766E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9" name="arch-head-Django + Channels">
            <a:extLst xmlns:a="http://schemas.openxmlformats.org/drawingml/2006/main">
              <a:ext uri="{FF2B5EF4-FFF2-40B4-BE49-F238E27FC236}">
                <a16:creationId xmlns:a16="http://schemas.microsoft.com/office/drawing/2014/main" id="{1E0C744F-A5C1-419A-AEDC-D122B684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43450"/>
            <a:ext cx="2362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Django + Channels</a:t>
            </a:r>
          </a:p>
        </p:txBody>
      </p:sp>
      <p:sp>
        <p:nvSpPr>
          <p:cNvPr id="10" name="arch-body-Django + Channels">
            <a:extLst xmlns:a="http://schemas.openxmlformats.org/drawingml/2006/main">
              <a:ext uri="{FF2B5EF4-FFF2-40B4-BE49-F238E27FC236}">
                <a16:creationId xmlns:a16="http://schemas.microsoft.com/office/drawing/2014/main" id="{381C0BA2-6F8D-41CE-AB34-BC13A4DF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098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REST / WebSocket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Audit log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Domain registry</a:t>
            </a:r>
          </a:p>
        </p:txBody>
      </p:sp>
      <p:sp>
        <p:nvSpPr>
          <p:cNvPr id="11" name="arch-ERAYA swarm core">
            <a:extLst xmlns:a="http://schemas.openxmlformats.org/drawingml/2006/main">
              <a:ext uri="{FF2B5EF4-FFF2-40B4-BE49-F238E27FC236}">
                <a16:creationId xmlns:a16="http://schemas.microsoft.com/office/drawing/2014/main" id="{1C994AF9-733D-480F-9A11-3AFF17A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857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45845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12" name="arch-head-ERAYA swarm core">
            <a:extLst xmlns:a="http://schemas.openxmlformats.org/drawingml/2006/main">
              <a:ext uri="{FF2B5EF4-FFF2-40B4-BE49-F238E27FC236}">
                <a16:creationId xmlns:a16="http://schemas.microsoft.com/office/drawing/2014/main" id="{B2F668F0-74FF-4509-9096-43927F2C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43450"/>
            <a:ext cx="2362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ERAYA swarm core</a:t>
            </a:r>
          </a:p>
        </p:txBody>
      </p:sp>
      <p:sp>
        <p:nvSpPr>
          <p:cNvPr id="13" name="arch-body-ERAYA swarm core">
            <a:extLst xmlns:a="http://schemas.openxmlformats.org/drawingml/2006/main">
              <a:ext uri="{FF2B5EF4-FFF2-40B4-BE49-F238E27FC236}">
                <a16:creationId xmlns:a16="http://schemas.microsoft.com/office/drawing/2014/main" id="{31842540-5C15-499D-80CF-E2E8316F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10200"/>
            <a:ext cx="22098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Perceiver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Planner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Recoverer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Guardian</a:t>
            </a:r>
          </a:p>
        </p:txBody>
      </p:sp>
      <p:sp>
        <p:nvSpPr>
          <p:cNvPr id="14" name="arch-Casper layer">
            <a:extLst xmlns:a="http://schemas.openxmlformats.org/drawingml/2006/main">
              <a:ext uri="{FF2B5EF4-FFF2-40B4-BE49-F238E27FC236}">
                <a16:creationId xmlns:a16="http://schemas.microsoft.com/office/drawing/2014/main" id="{A3DD9456-ACA0-496A-A5EE-696F066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76750"/>
            <a:ext cx="28575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8E2F2C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15" name="arch-head-Casper layer">
            <a:extLst xmlns:a="http://schemas.openxmlformats.org/drawingml/2006/main">
              <a:ext uri="{FF2B5EF4-FFF2-40B4-BE49-F238E27FC236}">
                <a16:creationId xmlns:a16="http://schemas.microsoft.com/office/drawing/2014/main" id="{1655E8BF-7F74-4BFE-9A67-4DBCC1D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743450"/>
            <a:ext cx="2362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Casper layer</a:t>
            </a:r>
          </a:p>
        </p:txBody>
      </p:sp>
      <p:sp>
        <p:nvSpPr>
          <p:cNvPr id="16" name="arch-body-Casper layer">
            <a:extLst xmlns:a="http://schemas.openxmlformats.org/drawingml/2006/main">
              <a:ext uri="{FF2B5EF4-FFF2-40B4-BE49-F238E27FC236}">
                <a16:creationId xmlns:a16="http://schemas.microsoft.com/office/drawing/2014/main" id="{A04B5916-A86C-4AB5-A549-46F9072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410200"/>
            <a:ext cx="22098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MCP facades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CSPR.click wallet</a:t>
            </a:r>
          </a:p>
          <a:p xmlns:a="http://schemas.openxmlformats.org/drawingml/2006/main">
            <a:pPr algn="ctr">
              <a:defRPr sz="1500" b="0" i="0">
                <a:solidFill>
                  <a:srgbClr val="F8FBFB"/>
                </a:solidFill>
                <a:latin typeface="Cascadia Mono"/>
                <a:ea typeface="Cascadia Mono"/>
                <a:cs typeface="Cascadia Mono"/>
              </a:defRPr>
            </a:pPr>
            <a:r>
              <a:t>x402 + reputation</a:t>
            </a:r>
          </a:p>
        </p:txBody>
      </p:sp>
      <p:cxnSp>
        <p:nvCxnSpPr>
          <p:cNvPr id="17" name="arch-arrow-0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57388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5C6A72"/>
            </a:solidFill>
            <a:prstDash val="solid"/>
          </a:ln>
        </p:spPr>
      </p:cxnSp>
      <p:cxnSp>
        <p:nvCxnSpPr>
          <p:cNvPr id="18" name="arch-arrow-1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86650" y="57388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5C6A72"/>
            </a:solidFill>
            <a:prstDash val="solid"/>
          </a:ln>
        </p:spPr>
      </p:cxnSp>
      <p:cxnSp>
        <p:nvCxnSpPr>
          <p:cNvPr id="19" name="arch-arrow-2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220450" y="57388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5C6A72"/>
            </a:solidFill>
            <a:prstDash val="solid"/>
          </a:ln>
        </p:spPr>
      </p:cxnSp>
      <p:sp>
        <p:nvSpPr>
          <p:cNvPr id="20" name="arch-base">
            <a:extLst xmlns:a="http://schemas.openxmlformats.org/drawingml/2006/main">
              <a:ext uri="{FF2B5EF4-FFF2-40B4-BE49-F238E27FC236}">
                <a16:creationId xmlns:a16="http://schemas.microsoft.com/office/drawing/2014/main" id="{8AC062D1-8FE6-4ED8-823B-572CCEDA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696200"/>
            <a:ext cx="1352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DB3"/>
          </a:solidFill>
          <a:ln xmlns:a="http://schemas.openxmlformats.org/drawingml/2006/main" w="0">
            <a:solidFill>
              <a:srgbClr val="C5BDB3"/>
            </a:solidFill>
            <a:prstDash val="solid"/>
          </a:ln>
        </p:spPr>
      </p:sp>
      <p:sp>
        <p:nvSpPr>
          <p:cNvPr id="21" name="arch-small-0">
            <a:extLst xmlns:a="http://schemas.openxmlformats.org/drawingml/2006/main">
              <a:ext uri="{FF2B5EF4-FFF2-40B4-BE49-F238E27FC236}">
                <a16:creationId xmlns:a16="http://schemas.microsoft.com/office/drawing/2014/main" id="{7E612AA5-2F84-40DF-9EEC-FCC31460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8020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22" name="arch-small-head-0">
            <a:extLst xmlns:a="http://schemas.openxmlformats.org/drawingml/2006/main">
              <a:ext uri="{FF2B5EF4-FFF2-40B4-BE49-F238E27FC236}">
                <a16:creationId xmlns:a16="http://schemas.microsoft.com/office/drawing/2014/main" id="{AE07E017-73BC-4D89-9659-7EE01E15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8001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A2A</a:t>
            </a:r>
          </a:p>
        </p:txBody>
      </p:sp>
      <p:sp>
        <p:nvSpPr>
          <p:cNvPr id="23" name="arch-small-body-0">
            <a:extLst xmlns:a="http://schemas.openxmlformats.org/drawingml/2006/main">
              <a:ext uri="{FF2B5EF4-FFF2-40B4-BE49-F238E27FC236}">
                <a16:creationId xmlns:a16="http://schemas.microsoft.com/office/drawing/2014/main" id="{E94898A4-9B31-40B1-B13F-CF3E480A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83439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HMAC signed messages</a:t>
            </a:r>
          </a:p>
        </p:txBody>
      </p:sp>
      <p:sp>
        <p:nvSpPr>
          <p:cNvPr id="24" name="arch-small-1">
            <a:extLst xmlns:a="http://schemas.openxmlformats.org/drawingml/2006/main">
              <a:ext uri="{FF2B5EF4-FFF2-40B4-BE49-F238E27FC236}">
                <a16:creationId xmlns:a16="http://schemas.microsoft.com/office/drawing/2014/main" id="{66A5C150-5B83-4D38-A28E-D554CAF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020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5" name="arch-small-head-1">
            <a:extLst xmlns:a="http://schemas.openxmlformats.org/drawingml/2006/main">
              <a:ext uri="{FF2B5EF4-FFF2-40B4-BE49-F238E27FC236}">
                <a16:creationId xmlns:a16="http://schemas.microsoft.com/office/drawing/2014/main" id="{E707F358-CD02-4533-A3A1-DE9CBE1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8001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ErayaGraph</a:t>
            </a:r>
          </a:p>
        </p:txBody>
      </p:sp>
      <p:sp>
        <p:nvSpPr>
          <p:cNvPr id="26" name="arch-small-body-1">
            <a:extLst xmlns:a="http://schemas.openxmlformats.org/drawingml/2006/main">
              <a:ext uri="{FF2B5EF4-FFF2-40B4-BE49-F238E27FC236}">
                <a16:creationId xmlns:a16="http://schemas.microsoft.com/office/drawing/2014/main" id="{FAD1C89B-1142-49D8-A2ED-C870FBCD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83439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Shared context memory</a:t>
            </a:r>
          </a:p>
        </p:txBody>
      </p:sp>
      <p:sp>
        <p:nvSpPr>
          <p:cNvPr id="27" name="arch-small-2">
            <a:extLst xmlns:a="http://schemas.openxmlformats.org/drawingml/2006/main">
              <a:ext uri="{FF2B5EF4-FFF2-40B4-BE49-F238E27FC236}">
                <a16:creationId xmlns:a16="http://schemas.microsoft.com/office/drawing/2014/main" id="{83E96748-363A-424D-85B4-D75BF1DC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020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0">
            <a:solidFill>
              <a:srgbClr val="E7B657"/>
            </a:solidFill>
            <a:prstDash val="solid"/>
          </a:ln>
        </p:spPr>
      </p:sp>
      <p:sp>
        <p:nvSpPr>
          <p:cNvPr id="28" name="arch-small-head-2">
            <a:extLst xmlns:a="http://schemas.openxmlformats.org/drawingml/2006/main">
              <a:ext uri="{FF2B5EF4-FFF2-40B4-BE49-F238E27FC236}">
                <a16:creationId xmlns:a16="http://schemas.microsoft.com/office/drawing/2014/main" id="{F20EAD20-41DE-4BAB-846D-6F6B0B6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001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KAVACHA</a:t>
            </a:r>
          </a:p>
        </p:txBody>
      </p:sp>
      <p:sp>
        <p:nvSpPr>
          <p:cNvPr id="29" name="arch-small-body-2">
            <a:extLst xmlns:a="http://schemas.openxmlformats.org/drawingml/2006/main">
              <a:ext uri="{FF2B5EF4-FFF2-40B4-BE49-F238E27FC236}">
                <a16:creationId xmlns:a16="http://schemas.microsoft.com/office/drawing/2014/main" id="{B71220D4-C993-4210-B15D-3170F35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3439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Policy and injection defense</a:t>
            </a:r>
          </a:p>
        </p:txBody>
      </p:sp>
      <p:sp>
        <p:nvSpPr>
          <p:cNvPr id="30" name="arch-small-3">
            <a:extLst xmlns:a="http://schemas.openxmlformats.org/drawingml/2006/main">
              <a:ext uri="{FF2B5EF4-FFF2-40B4-BE49-F238E27FC236}">
                <a16:creationId xmlns:a16="http://schemas.microsoft.com/office/drawing/2014/main" id="{919D25E1-3D04-4D2B-8519-AE58927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8020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D680"/>
          </a:solidFill>
          <a:ln xmlns:a="http://schemas.openxmlformats.org/drawingml/2006/main" w="0">
            <a:solidFill>
              <a:srgbClr val="74D680"/>
            </a:solidFill>
            <a:prstDash val="solid"/>
          </a:ln>
        </p:spPr>
      </p:sp>
      <p:sp>
        <p:nvSpPr>
          <p:cNvPr id="31" name="arch-small-head-3">
            <a:extLst xmlns:a="http://schemas.openxmlformats.org/drawingml/2006/main">
              <a:ext uri="{FF2B5EF4-FFF2-40B4-BE49-F238E27FC236}">
                <a16:creationId xmlns:a16="http://schemas.microsoft.com/office/drawing/2014/main" id="{DFF6BEC9-02F8-4A52-A268-9AFCECBA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8001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OTel</a:t>
            </a:r>
          </a:p>
        </p:txBody>
      </p:sp>
      <p:sp>
        <p:nvSpPr>
          <p:cNvPr id="32" name="arch-small-body-3">
            <a:extLst xmlns:a="http://schemas.openxmlformats.org/drawingml/2006/main">
              <a:ext uri="{FF2B5EF4-FFF2-40B4-BE49-F238E27FC236}">
                <a16:creationId xmlns:a16="http://schemas.microsoft.com/office/drawing/2014/main" id="{300FFF72-A7C0-44B0-BD9F-9F040721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83439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Trace every tier</a:t>
            </a:r>
          </a:p>
        </p:txBody>
      </p:sp>
      <p:sp>
        <p:nvSpPr>
          <p:cNvPr id="33" name="footer-4">
            <a:extLst xmlns:a="http://schemas.openxmlformats.org/drawingml/2006/main">
              <a:ext uri="{FF2B5EF4-FFF2-40B4-BE49-F238E27FC236}">
                <a16:creationId xmlns:a16="http://schemas.microsoft.com/office/drawing/2014/main" id="{E3959A70-0D74-4010-A7E2-E5FA77FA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A72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4 of 7</a:t>
            </a:r>
          </a:p>
        </p:txBody>
      </p:sp>
    </p:spTree>
    <p:extLst>
      <p:ext uri="{BB962C8B-B14F-4D97-AF65-F5344CB8AC3E}">
        <p14:creationId xmlns:p14="http://schemas.microsoft.com/office/powerpoint/2010/main" val="2103259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979F74-3AA8-4F32-BA7F-E0A598FD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60C4D5E-2FA6-4644-B6B6-0DAEB41F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B8A6"/>
                </a:solidFill>
                <a:latin typeface="Cascadia Mono"/>
                <a:ea typeface="Cascadia Mono"/>
                <a:cs typeface="Cascadia Mono"/>
              </a:defRPr>
            </a:pPr>
            <a:r>
              <a:t>CASPER FEATURE 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A2D3D7-166E-424E-B896-93E885F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668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The branch connects Casper-native ideas to ERAYA's existing safety spine.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A246689-4264-45A2-B48C-AFEACD1A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Each feature lands in the codebase as a demo-safe facade today, with provider URLs ready for live endpoints.</a:t>
            </a:r>
          </a:p>
        </p:txBody>
      </p:sp>
      <p:sp>
        <p:nvSpPr>
          <p:cNvPr id="5" name="feature-table-backdrop">
            <a:extLst xmlns:a="http://schemas.openxmlformats.org/drawingml/2006/main">
              <a:ext uri="{FF2B5EF4-FFF2-40B4-BE49-F238E27FC236}">
                <a16:creationId xmlns:a16="http://schemas.microsoft.com/office/drawing/2014/main" id="{4E5A8A6E-6882-4BD4-85E3-5A423BD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15049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CFC3"/>
            </a:solidFill>
            <a:prstDash val="solid"/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990600" y="3667125"/>
          <a:ext xmlns:a="http://schemas.openxmlformats.org/drawingml/2006/main" cx="15049500" cy="447675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solidFill>
                  <a:srgbClr val="F5F1EA"/>
                </a:solidFill>
              </a:tblPr>
              <a:tblGrid>
                <a:gridCol w="3143250"/>
                <a:gridCol w="8096250"/>
                <a:gridCol w="3810000"/>
              </a:tblGrid>
              <a:tr h="639536">
                <a:tc>
                  <a:txBody>
                    <a:bodyPr/>
                    <a:lstStyle/>
                    <a:p>
                      <a:r>
                        <a:rPr/>
                        <a:t>Casper move</a:t>
                      </a:r>
                    </a:p>
                  </a:txBody>
                  <a:tcPr marL="91440" marR="91440" marT="45720" marB="45720">
                    <a:solidFill>
                      <a:srgbClr val="E9DC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ERAYA implementation</a:t>
                      </a:r>
                    </a:p>
                  </a:txBody>
                  <a:tcPr marL="91440" marR="91440" marT="45720" marB="45720">
                    <a:solidFill>
                      <a:srgbClr val="E9DC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Demo surface</a:t>
                      </a:r>
                    </a:p>
                  </a:txBody>
                  <a:tcPr marL="91440" marR="91440" marT="45720" marB="45720">
                    <a:solidFill>
                      <a:srgbClr val="E9DCC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/>
                        <a:t>DeFi adapter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casper_defi domain: portfolio, yield, risk, tx log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/defi/portfolio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/>
                        <a:t>Agent wallets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CSPR.click-shaped AgentWallet per archetype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4 testnet wallets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/>
                        <a:t>x402 economy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X402EnabledBus prices high-value A2A requests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x402 enabled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/>
                        <a:t>Swarm quorum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4-agent vote before high-stakes rebalance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75% approval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/>
                        <a:t>KAVACHA R004-R008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Treasury, swap, APY, slippage, rug-pull rules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4 open threats</a:t>
                      </a:r>
                    </a:p>
                  </a:txBody>
                  <a:tcPr marL="95250" marR="95250" marT="76200" marB="76200">
                    <a:solidFill>
                      <a:srgbClr val="FFF9F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/>
                        <a:t>Reputation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EMA score plus on-chain-anchor-shaped batches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reputation panel</a:t>
                      </a:r>
                    </a:p>
                  </a:txBody>
                  <a:tcPr marL="95250" marR="95250" marT="76200" marB="76200">
                    <a:solidFill>
                      <a:srgbClr val="F5F1EA"/>
                    </a:solidFill>
                  </a:tcPr>
                </a:tc>
              </a:tr>
            </a:tbl>
          </a:graphicData>
        </a:graphic>
      </p:graphicFrame>
      <p:sp>
        <p:nvSpPr>
          <p:cNvPr id="7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432AFF6C-A423-4DFA-8B85-4A061AE2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77250"/>
            <a:ext cx="13430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Why judges notice: this is not a single DEX-calling agent. It is a priced, audited, voting swarm with defined failure behavior.</a:t>
            </a:r>
          </a:p>
        </p:txBody>
      </p:sp>
      <p:sp>
        <p:nvSpPr>
          <p:cNvPr id="8" name="feature-note-rule">
            <a:extLst xmlns:a="http://schemas.openxmlformats.org/drawingml/2006/main">
              <a:ext uri="{FF2B5EF4-FFF2-40B4-BE49-F238E27FC236}">
                <a16:creationId xmlns:a16="http://schemas.microsoft.com/office/drawing/2014/main" id="{507A50B1-BFF6-4522-88B6-64F67175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2495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9" name="footer-5">
            <a:extLst xmlns:a="http://schemas.openxmlformats.org/drawingml/2006/main">
              <a:ext uri="{FF2B5EF4-FFF2-40B4-BE49-F238E27FC236}">
                <a16:creationId xmlns:a16="http://schemas.microsoft.com/office/drawing/2014/main" id="{8D785EB1-0366-486A-8725-67B9B511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94A1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5 of 7</a:t>
            </a:r>
          </a:p>
        </p:txBody>
      </p:sp>
    </p:spTree>
    <p:extLst>
      <p:ext uri="{BB962C8B-B14F-4D97-AF65-F5344CB8AC3E}">
        <p14:creationId xmlns:p14="http://schemas.microsoft.com/office/powerpoint/2010/main" val="12072838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360DEA-654E-4A0A-8A85-E4F49E9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solidFill>
              <a:srgbClr val="F5F1EA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FB2D80E-5C97-4944-83BC-D1B337D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E2F2C"/>
                </a:solidFill>
                <a:latin typeface="Cascadia Mono"/>
                <a:ea typeface="Cascadia Mono"/>
                <a:cs typeface="Cascadia Mono"/>
              </a:defRPr>
            </a:pPr>
            <a:r>
              <a:t>LIVE PROOF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F1BCE1-8D02-4D0D-8833-79EB0F7E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668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t>The `/eraya` deployment is serving the Casper DeFi console now.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17075D9-0F10-4186-ABDE-2E01CB8D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2606A"/>
                </a:solidFill>
                <a:latin typeface="Aptos"/>
                <a:ea typeface="Aptos"/>
                <a:cs typeface="Aptos"/>
              </a:defRPr>
            </a:pPr>
            <a:r>
              <a:t>Public smoke checks hit the frontend, DeFi route, static bundle, and Casper dashboard API.</a:t>
            </a:r>
          </a:p>
        </p:txBody>
      </p:sp>
      <p:sp>
        <p:nvSpPr>
          <p:cNvPr id="5" name="proof-hero">
            <a:extLst xmlns:a="http://schemas.openxmlformats.org/drawingml/2006/main">
              <a:ext uri="{FF2B5EF4-FFF2-40B4-BE49-F238E27FC236}">
                <a16:creationId xmlns:a16="http://schemas.microsoft.com/office/drawing/2014/main" id="{8B3B02E0-5E07-47AA-A50E-1EECEE4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proof-url">
            <a:extLst xmlns:a="http://schemas.openxmlformats.org/drawingml/2006/main">
              <a:ext uri="{FF2B5EF4-FFF2-40B4-BE49-F238E27FC236}">
                <a16:creationId xmlns:a16="http://schemas.microsoft.com/office/drawing/2014/main" id="{9D731535-646C-4EF5-83D6-AF0EA73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5124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B8A6"/>
                </a:solidFill>
                <a:latin typeface="Cascadia Mono"/>
                <a:ea typeface="Cascadia Mono"/>
                <a:cs typeface="Cascadia Mono"/>
              </a:defRPr>
            </a:pPr>
            <a:r>
              <a:t>http://35.255.196.78/eraya/defi/portfolio</a:t>
            </a:r>
          </a:p>
        </p:txBody>
      </p:sp>
      <p:sp>
        <p:nvSpPr>
          <p:cNvPr id="7" name="proof-value-value">
            <a:extLst xmlns:a="http://schemas.openxmlformats.org/drawingml/2006/main">
              <a:ext uri="{FF2B5EF4-FFF2-40B4-BE49-F238E27FC236}">
                <a16:creationId xmlns:a16="http://schemas.microsoft.com/office/drawing/2014/main" id="{86FC87E1-E65A-41DA-A8C9-6A7CAF41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$820K</a:t>
            </a:r>
          </a:p>
        </p:txBody>
      </p:sp>
      <p:sp>
        <p:nvSpPr>
          <p:cNvPr id="8" name="proof-value-rule">
            <a:extLst xmlns:a="http://schemas.openxmlformats.org/drawingml/2006/main">
              <a:ext uri="{FF2B5EF4-FFF2-40B4-BE49-F238E27FC236}">
                <a16:creationId xmlns:a16="http://schemas.microsoft.com/office/drawing/2014/main" id="{6983BD50-5FE5-44C9-BEDE-3BAF555F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9" name="proof-value-label">
            <a:extLst xmlns:a="http://schemas.openxmlformats.org/drawingml/2006/main">
              <a:ext uri="{FF2B5EF4-FFF2-40B4-BE49-F238E27FC236}">
                <a16:creationId xmlns:a16="http://schemas.microsoft.com/office/drawing/2014/main" id="{63273E55-673B-46A5-AC60-7872534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05450"/>
            <a:ext cx="1695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portfolio value</a:t>
            </a:r>
          </a:p>
        </p:txBody>
      </p:sp>
      <p:sp>
        <p:nvSpPr>
          <p:cNvPr id="10" name="proof-pnl-value">
            <a:extLst xmlns:a="http://schemas.openxmlformats.org/drawingml/2006/main">
              <a:ext uri="{FF2B5EF4-FFF2-40B4-BE49-F238E27FC236}">
                <a16:creationId xmlns:a16="http://schemas.microsoft.com/office/drawing/2014/main" id="{A3388C23-0C71-41BB-89D1-06B2833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19526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+1.82%</a:t>
            </a:r>
          </a:p>
        </p:txBody>
      </p:sp>
      <p:sp>
        <p:nvSpPr>
          <p:cNvPr id="11" name="proof-pnl-rule">
            <a:extLst xmlns:a="http://schemas.openxmlformats.org/drawingml/2006/main">
              <a:ext uri="{FF2B5EF4-FFF2-40B4-BE49-F238E27FC236}">
                <a16:creationId xmlns:a16="http://schemas.microsoft.com/office/drawing/2014/main" id="{31DFE1F2-E86B-4DAB-8275-C524D7F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680"/>
          </a:solidFill>
          <a:ln xmlns:a="http://schemas.openxmlformats.org/drawingml/2006/main" w="0">
            <a:solidFill>
              <a:srgbClr val="74D680"/>
            </a:solidFill>
            <a:prstDash val="solid"/>
          </a:ln>
        </p:spPr>
      </p:sp>
      <p:sp>
        <p:nvSpPr>
          <p:cNvPr id="12" name="proof-pnl-label">
            <a:extLst xmlns:a="http://schemas.openxmlformats.org/drawingml/2006/main">
              <a:ext uri="{FF2B5EF4-FFF2-40B4-BE49-F238E27FC236}">
                <a16:creationId xmlns:a16="http://schemas.microsoft.com/office/drawing/2014/main" id="{18BD1786-E5D0-42E8-B488-AD655F7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05450"/>
            <a:ext cx="19526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24h P&amp;L</a:t>
            </a:r>
          </a:p>
        </p:txBody>
      </p:sp>
      <p:sp>
        <p:nvSpPr>
          <p:cNvPr id="13" name="proof-risk-value">
            <a:extLst xmlns:a="http://schemas.openxmlformats.org/drawingml/2006/main">
              <a:ext uri="{FF2B5EF4-FFF2-40B4-BE49-F238E27FC236}">
                <a16:creationId xmlns:a16="http://schemas.microsoft.com/office/drawing/2014/main" id="{ABCE074F-A708-4989-BD4D-28A1722A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29150"/>
            <a:ext cx="1143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0.41</a:t>
            </a:r>
          </a:p>
        </p:txBody>
      </p:sp>
      <p:sp>
        <p:nvSpPr>
          <p:cNvPr id="14" name="proof-risk-rule">
            <a:extLst xmlns:a="http://schemas.openxmlformats.org/drawingml/2006/main">
              <a:ext uri="{FF2B5EF4-FFF2-40B4-BE49-F238E27FC236}">
                <a16:creationId xmlns:a16="http://schemas.microsoft.com/office/drawing/2014/main" id="{4CF1CB1B-315C-4DAE-93CD-4C543A1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340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0">
            <a:solidFill>
              <a:srgbClr val="E7B657"/>
            </a:solidFill>
            <a:prstDash val="solid"/>
          </a:ln>
        </p:spPr>
      </p:sp>
      <p:sp>
        <p:nvSpPr>
          <p:cNvPr id="15" name="proof-risk-label">
            <a:extLst xmlns:a="http://schemas.openxmlformats.org/drawingml/2006/main">
              <a:ext uri="{FF2B5EF4-FFF2-40B4-BE49-F238E27FC236}">
                <a16:creationId xmlns:a16="http://schemas.microsoft.com/office/drawing/2014/main" id="{97F8FF10-D6A7-4CAF-BEF9-AAF6D24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054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risk score</a:t>
            </a:r>
          </a:p>
        </p:txBody>
      </p:sp>
      <p:sp>
        <p:nvSpPr>
          <p:cNvPr id="16" name="proof-services">
            <a:extLst xmlns:a="http://schemas.openxmlformats.org/drawingml/2006/main">
              <a:ext uri="{FF2B5EF4-FFF2-40B4-BE49-F238E27FC236}">
                <a16:creationId xmlns:a16="http://schemas.microsoft.com/office/drawing/2014/main" id="{03360033-9924-4097-8341-37F3BA3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38900"/>
            <a:ext cx="476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systemd: eraya-backend.service + eraya-frontend.service</a:t>
            </a:r>
          </a:p>
          <a:p xmlns:a="http://schemas.openxmlformats.org/drawingml/2006/main">
            <a:pPr algn="l">
              <a:defRPr sz="1350" b="0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backend 8022 / frontend 3022</a:t>
            </a:r>
          </a:p>
          <a:p xmlns:a="http://schemas.openxmlformats.org/drawingml/2006/main">
            <a:pPr algn="l">
              <a:defRPr sz="1350" b="0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Nginx routes: /eraya, /eraya_api, /eraya_ws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810500" y="3676650"/>
          <a:ext xmlns:a="http://schemas.openxmlformats.org/drawingml/2006/main" cx="72390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5161379a9647dc"/>
          </a:graphicData>
        </a:graphic>
      </p:graphicFrame>
      <p:sp>
        <p:nvSpPr>
          <p:cNvPr id="18" name="proof-check-dot-0">
            <a:extLst xmlns:a="http://schemas.openxmlformats.org/drawingml/2006/main">
              <a:ext uri="{FF2B5EF4-FFF2-40B4-BE49-F238E27FC236}">
                <a16:creationId xmlns:a16="http://schemas.microsoft.com/office/drawing/2014/main" id="{6427BADB-3FA8-4B2E-B73F-7537CB3B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58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9" name="proof-check-0">
            <a:extLst xmlns:a="http://schemas.openxmlformats.org/drawingml/2006/main">
              <a:ext uri="{FF2B5EF4-FFF2-40B4-BE49-F238E27FC236}">
                <a16:creationId xmlns:a16="http://schemas.microsoft.com/office/drawing/2014/main" id="{7F4167D4-1780-45B6-9A6A-48B9D85D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524750"/>
            <a:ext cx="647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scadia Mono"/>
                <a:ea typeface="Cascadia Mono"/>
                <a:cs typeface="Cascadia Mono"/>
              </a:defRPr>
            </a:pPr>
            <a:r>
              <a:t>Frontend: /eraya -&gt; 200</a:t>
            </a:r>
          </a:p>
        </p:txBody>
      </p:sp>
      <p:sp>
        <p:nvSpPr>
          <p:cNvPr id="20" name="proof-check-dot-1">
            <a:extLst xmlns:a="http://schemas.openxmlformats.org/drawingml/2006/main">
              <a:ext uri="{FF2B5EF4-FFF2-40B4-BE49-F238E27FC236}">
                <a16:creationId xmlns:a16="http://schemas.microsoft.com/office/drawing/2014/main" id="{E0B23E58-0A15-4867-B475-B141B4CC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39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D680"/>
          </a:solidFill>
          <a:ln xmlns:a="http://schemas.openxmlformats.org/drawingml/2006/main" w="0">
            <a:solidFill>
              <a:srgbClr val="74D680"/>
            </a:solidFill>
            <a:prstDash val="solid"/>
          </a:ln>
        </p:spPr>
      </p:sp>
      <p:sp>
        <p:nvSpPr>
          <p:cNvPr id="21" name="proof-check-1">
            <a:extLst xmlns:a="http://schemas.openxmlformats.org/drawingml/2006/main">
              <a:ext uri="{FF2B5EF4-FFF2-40B4-BE49-F238E27FC236}">
                <a16:creationId xmlns:a16="http://schemas.microsoft.com/office/drawing/2014/main" id="{7DBE5BB8-A566-44F7-977C-604ECAD0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81950"/>
            <a:ext cx="647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scadia Mono"/>
                <a:ea typeface="Cascadia Mono"/>
                <a:cs typeface="Cascadia Mono"/>
              </a:defRPr>
            </a:pPr>
            <a:r>
              <a:t>DeFi route: /eraya/defi/portfolio -&gt; 200</a:t>
            </a:r>
          </a:p>
        </p:txBody>
      </p:sp>
      <p:sp>
        <p:nvSpPr>
          <p:cNvPr id="22" name="proof-check-dot-2">
            <a:extLst xmlns:a="http://schemas.openxmlformats.org/drawingml/2006/main">
              <a:ext uri="{FF2B5EF4-FFF2-40B4-BE49-F238E27FC236}">
                <a16:creationId xmlns:a16="http://schemas.microsoft.com/office/drawing/2014/main" id="{7A984B69-1BD2-413E-AEBE-AE78B8F6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9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0">
            <a:solidFill>
              <a:srgbClr val="E7B657"/>
            </a:solidFill>
            <a:prstDash val="solid"/>
          </a:ln>
        </p:spPr>
      </p:sp>
      <p:sp>
        <p:nvSpPr>
          <p:cNvPr id="23" name="proof-check-2">
            <a:extLst xmlns:a="http://schemas.openxmlformats.org/drawingml/2006/main">
              <a:ext uri="{FF2B5EF4-FFF2-40B4-BE49-F238E27FC236}">
                <a16:creationId xmlns:a16="http://schemas.microsoft.com/office/drawing/2014/main" id="{405CAE98-0E98-4701-AFAF-1BDA0196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439150"/>
            <a:ext cx="647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scadia Mono"/>
                <a:ea typeface="Cascadia Mono"/>
                <a:cs typeface="Cascadia Mono"/>
              </a:defRPr>
            </a:pPr>
            <a:r>
              <a:t>API: tx=3 / threats=4</a:t>
            </a:r>
          </a:p>
        </p:txBody>
      </p:sp>
      <p:sp>
        <p:nvSpPr>
          <p:cNvPr id="24" name="proof-check-dot-3">
            <a:extLst xmlns:a="http://schemas.openxmlformats.org/drawingml/2006/main">
              <a:ext uri="{FF2B5EF4-FFF2-40B4-BE49-F238E27FC236}">
                <a16:creationId xmlns:a16="http://schemas.microsoft.com/office/drawing/2014/main" id="{E1960F92-E667-4308-AFC9-444D0B89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95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25" name="proof-check-3">
            <a:extLst xmlns:a="http://schemas.openxmlformats.org/drawingml/2006/main">
              <a:ext uri="{FF2B5EF4-FFF2-40B4-BE49-F238E27FC236}">
                <a16:creationId xmlns:a16="http://schemas.microsoft.com/office/drawing/2014/main" id="{98227E1C-FC77-4138-8B62-1314863B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896350"/>
            <a:ext cx="647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scadia Mono"/>
                <a:ea typeface="Cascadia Mono"/>
                <a:cs typeface="Cascadia Mono"/>
              </a:defRPr>
            </a:pPr>
            <a:r>
              <a:t>Guardrail: /eryaa stays 404</a:t>
            </a:r>
          </a:p>
        </p:txBody>
      </p: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81A0AB8A-BC52-40EA-8CDA-72268C7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A72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6 of 7</a:t>
            </a:r>
          </a:p>
        </p:txBody>
      </p:sp>
    </p:spTree>
    <p:extLst>
      <p:ext uri="{BB962C8B-B14F-4D97-AF65-F5344CB8AC3E}">
        <p14:creationId xmlns:p14="http://schemas.microsoft.com/office/powerpoint/2010/main" val="3064791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6FE8C3-CF57-4283-9C2F-5957AD73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D39768E-99A8-4D77-8FE3-5475775D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B8A6"/>
                </a:solidFill>
                <a:latin typeface="Cascadia Mono"/>
                <a:ea typeface="Cascadia Mono"/>
                <a:cs typeface="Cascadia Mono"/>
              </a:defRPr>
            </a:pPr>
            <a:r>
              <a:t>NEXT SPRINT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55B021-0A78-4ACE-9674-604330C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668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Turn the demo-safe Casper layer into real testnet execution.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9B4EC8-6EB6-493C-A432-BD05130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28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The deck lands the current build; the roadmap makes the next investor/judge question easy to answer.</a:t>
            </a:r>
          </a:p>
        </p:txBody>
      </p:sp>
      <p:sp>
        <p:nvSpPr>
          <p:cNvPr id="5" name="road-num-0">
            <a:extLst xmlns:a="http://schemas.openxmlformats.org/drawingml/2006/main">
              <a:ext uri="{FF2B5EF4-FFF2-40B4-BE49-F238E27FC236}">
                <a16:creationId xmlns:a16="http://schemas.microsoft.com/office/drawing/2014/main" id="{77CCC572-CF59-426D-8C89-B1FAF7E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road-num-text-0">
            <a:extLst xmlns:a="http://schemas.openxmlformats.org/drawingml/2006/main">
              <a:ext uri="{FF2B5EF4-FFF2-40B4-BE49-F238E27FC236}">
                <a16:creationId xmlns:a16="http://schemas.microsoft.com/office/drawing/2014/main" id="{A1B5F7A0-8245-48EA-A9D0-1522CFC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723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1</a:t>
            </a:r>
          </a:p>
        </p:txBody>
      </p:sp>
      <p:sp>
        <p:nvSpPr>
          <p:cNvPr id="7" name="road-line-0">
            <a:extLst xmlns:a="http://schemas.openxmlformats.org/drawingml/2006/main">
              <a:ext uri="{FF2B5EF4-FFF2-40B4-BE49-F238E27FC236}">
                <a16:creationId xmlns:a16="http://schemas.microsoft.com/office/drawing/2014/main" id="{529B3287-5486-4FFE-98CC-EC717D9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862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8" name="road-head-0">
            <a:extLst xmlns:a="http://schemas.openxmlformats.org/drawingml/2006/main">
              <a:ext uri="{FF2B5EF4-FFF2-40B4-BE49-F238E27FC236}">
                <a16:creationId xmlns:a16="http://schemas.microsoft.com/office/drawing/2014/main" id="{480BB16B-ED26-4CF1-B813-0D551BC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400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Wire live providers</a:t>
            </a:r>
          </a:p>
        </p:txBody>
      </p:sp>
      <p:sp>
        <p:nvSpPr>
          <p:cNvPr id="9" name="road-body-0">
            <a:extLst xmlns:a="http://schemas.openxmlformats.org/drawingml/2006/main">
              <a:ext uri="{FF2B5EF4-FFF2-40B4-BE49-F238E27FC236}">
                <a16:creationId xmlns:a16="http://schemas.microsoft.com/office/drawing/2014/main" id="{4DA9C568-135D-482D-9492-D986B0E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6260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Set CSPR.cloud, Casper MCP, CSPR.trade MCP, and CSPR.click URLs; keep deterministic fallback for stage demos.</a:t>
            </a:r>
          </a:p>
        </p:txBody>
      </p:sp>
      <p:sp>
        <p:nvSpPr>
          <p:cNvPr id="10" name="road-num-1">
            <a:extLst xmlns:a="http://schemas.openxmlformats.org/drawingml/2006/main">
              <a:ext uri="{FF2B5EF4-FFF2-40B4-BE49-F238E27FC236}">
                <a16:creationId xmlns:a16="http://schemas.microsoft.com/office/drawing/2014/main" id="{7E8E51C3-F83A-4803-8C70-7A4D714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road-num-text-1">
            <a:extLst xmlns:a="http://schemas.openxmlformats.org/drawingml/2006/main">
              <a:ext uri="{FF2B5EF4-FFF2-40B4-BE49-F238E27FC236}">
                <a16:creationId xmlns:a16="http://schemas.microsoft.com/office/drawing/2014/main" id="{8DC68AF8-AD5F-473E-8590-92FB9F1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71900"/>
            <a:ext cx="723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2</a:t>
            </a:r>
          </a:p>
        </p:txBody>
      </p:sp>
      <p:sp>
        <p:nvSpPr>
          <p:cNvPr id="12" name="road-line-1">
            <a:extLst xmlns:a="http://schemas.openxmlformats.org/drawingml/2006/main">
              <a:ext uri="{FF2B5EF4-FFF2-40B4-BE49-F238E27FC236}">
                <a16:creationId xmlns:a16="http://schemas.microsoft.com/office/drawing/2014/main" id="{9363CB3C-AA5A-4174-B659-8DE41B10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862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657"/>
          </a:solidFill>
          <a:ln xmlns:a="http://schemas.openxmlformats.org/drawingml/2006/main" w="0">
            <a:solidFill>
              <a:srgbClr val="E7B657"/>
            </a:solidFill>
            <a:prstDash val="solid"/>
          </a:ln>
        </p:spPr>
      </p:sp>
      <p:sp>
        <p:nvSpPr>
          <p:cNvPr id="13" name="road-head-1">
            <a:extLst xmlns:a="http://schemas.openxmlformats.org/drawingml/2006/main">
              <a:ext uri="{FF2B5EF4-FFF2-40B4-BE49-F238E27FC236}">
                <a16:creationId xmlns:a16="http://schemas.microsoft.com/office/drawing/2014/main" id="{3F8F13B0-D5A8-4490-98D0-D9957F5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400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Deploy Odra contracts</a:t>
            </a:r>
          </a:p>
        </p:txBody>
      </p:sp>
      <p:sp>
        <p:nvSpPr>
          <p:cNvPr id="14" name="road-body-1">
            <a:extLst xmlns:a="http://schemas.openxmlformats.org/drawingml/2006/main">
              <a:ext uri="{FF2B5EF4-FFF2-40B4-BE49-F238E27FC236}">
                <a16:creationId xmlns:a16="http://schemas.microsoft.com/office/drawing/2014/main" id="{F0A3753B-FF70-44BB-804F-52F2CCB2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6260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Agent registry, treasury, governance, and reputation contracts on Casper testnet with explorer links.</a:t>
            </a:r>
          </a:p>
        </p:txBody>
      </p:sp>
      <p:sp>
        <p:nvSpPr>
          <p:cNvPr id="15" name="road-num-2">
            <a:extLst xmlns:a="http://schemas.openxmlformats.org/drawingml/2006/main">
              <a:ext uri="{FF2B5EF4-FFF2-40B4-BE49-F238E27FC236}">
                <a16:creationId xmlns:a16="http://schemas.microsoft.com/office/drawing/2014/main" id="{9475423C-D947-49FA-81E8-A59982E5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638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road-num-text-2">
            <a:extLst xmlns:a="http://schemas.openxmlformats.org/drawingml/2006/main">
              <a:ext uri="{FF2B5EF4-FFF2-40B4-BE49-F238E27FC236}">
                <a16:creationId xmlns:a16="http://schemas.microsoft.com/office/drawing/2014/main" id="{CAF6908C-66B1-42B0-A568-AE792DE9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771900"/>
            <a:ext cx="723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3</a:t>
            </a:r>
          </a:p>
        </p:txBody>
      </p:sp>
      <p:sp>
        <p:nvSpPr>
          <p:cNvPr id="17" name="road-line-2">
            <a:extLst xmlns:a="http://schemas.openxmlformats.org/drawingml/2006/main">
              <a:ext uri="{FF2B5EF4-FFF2-40B4-BE49-F238E27FC236}">
                <a16:creationId xmlns:a16="http://schemas.microsoft.com/office/drawing/2014/main" id="{8E19D51A-89B2-4628-8EBE-250E2DE1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0862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845"/>
          </a:solidFill>
          <a:ln xmlns:a="http://schemas.openxmlformats.org/drawingml/2006/main" w="0">
            <a:solidFill>
              <a:srgbClr val="E45845"/>
            </a:solidFill>
            <a:prstDash val="solid"/>
          </a:ln>
        </p:spPr>
      </p:sp>
      <p:sp>
        <p:nvSpPr>
          <p:cNvPr id="18" name="road-head-2">
            <a:extLst xmlns:a="http://schemas.openxmlformats.org/drawingml/2006/main">
              <a:ext uri="{FF2B5EF4-FFF2-40B4-BE49-F238E27FC236}">
                <a16:creationId xmlns:a16="http://schemas.microsoft.com/office/drawing/2014/main" id="{683EC389-9289-476B-807D-CA920CE4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876800"/>
            <a:ext cx="400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Record real outcomes</a:t>
            </a:r>
          </a:p>
        </p:txBody>
      </p:sp>
      <p:sp>
        <p:nvSpPr>
          <p:cNvPr id="19" name="road-body-2">
            <a:extLst xmlns:a="http://schemas.openxmlformats.org/drawingml/2006/main">
              <a:ext uri="{FF2B5EF4-FFF2-40B4-BE49-F238E27FC236}">
                <a16:creationId xmlns:a16="http://schemas.microsoft.com/office/drawing/2014/main" id="{94E4EC68-E450-44F4-85E3-23A3BD4A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56260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8C2CC"/>
                </a:solidFill>
                <a:latin typeface="Aptos"/>
                <a:ea typeface="Aptos"/>
                <a:cs typeface="Aptos"/>
              </a:defRPr>
            </a:pPr>
            <a:r>
              <a:t>Flush reputation batches, x402 payments, quorum votes, and KAVACHA vetoes to chain-visible transactions.</a:t>
            </a:r>
          </a:p>
        </p:txBody>
      </p:sp>
      <p:sp>
        <p:nvSpPr>
          <p:cNvPr id="20" name="road-ask-line">
            <a:extLst xmlns:a="http://schemas.openxmlformats.org/drawingml/2006/main">
              <a:ext uri="{FF2B5EF4-FFF2-40B4-BE49-F238E27FC236}">
                <a16:creationId xmlns:a16="http://schemas.microsoft.com/office/drawing/2014/main" id="{EABC128F-1A1A-4578-B131-2DD7263A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92480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1" name="road-ask">
            <a:extLst xmlns:a="http://schemas.openxmlformats.org/drawingml/2006/main">
              <a:ext uri="{FF2B5EF4-FFF2-40B4-BE49-F238E27FC236}">
                <a16:creationId xmlns:a16="http://schemas.microsoft.com/office/drawing/2014/main" id="{DE44C4D8-4DAA-41F0-8B24-FAEA6B6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172450"/>
            <a:ext cx="12763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1EA"/>
                </a:solidFill>
                <a:latin typeface="Aptos Display"/>
                <a:ea typeface="Aptos Display"/>
                <a:cs typeface="Aptos Display"/>
              </a:defRPr>
            </a:pPr>
            <a:r>
              <a:t>Ask: use the live `/eraya` build as the demo spine, then swap demo facades for Casper testnet endpoints during the final integration pass.</a:t>
            </a:r>
          </a:p>
        </p:txBody>
      </p:sp>
      <p:sp>
        <p:nvSpPr>
          <p:cNvPr id="22" name="road-live-chip-shape">
            <a:extLst xmlns:a="http://schemas.openxmlformats.org/drawingml/2006/main">
              <a:ext uri="{FF2B5EF4-FFF2-40B4-BE49-F238E27FC236}">
                <a16:creationId xmlns:a16="http://schemas.microsoft.com/office/drawing/2014/main" id="{688CCAB3-4E22-437F-8976-DA3292D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048750"/>
            <a:ext cx="885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0">
            <a:solidFill>
              <a:srgbClr val="17232C"/>
            </a:solidFill>
            <a:prstDash val="solid"/>
          </a:ln>
        </p:spPr>
      </p:sp>
      <p:sp>
        <p:nvSpPr>
          <p:cNvPr id="23" name="road-live-chip-text">
            <a:extLst xmlns:a="http://schemas.openxmlformats.org/drawingml/2006/main">
              <a:ext uri="{FF2B5EF4-FFF2-40B4-BE49-F238E27FC236}">
                <a16:creationId xmlns:a16="http://schemas.microsoft.com/office/drawing/2014/main" id="{F9C6768C-0D96-4E9C-B182-6B2FA74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124950"/>
            <a:ext cx="855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8C2CC"/>
                </a:solidFill>
                <a:latin typeface="Cascadia Mono"/>
                <a:ea typeface="Cascadia Mono"/>
                <a:cs typeface="Cascadia Mono"/>
              </a:defRPr>
            </a:pPr>
            <a:r>
              <a:t>http://35.255.196.78/eraya_api/api/domains/casper_defi/dashboard/</a:t>
            </a:r>
          </a:p>
        </p:txBody>
      </p:sp>
      <p:sp>
        <p:nvSpPr>
          <p:cNvPr id="24" name="footer-7">
            <a:extLst xmlns:a="http://schemas.openxmlformats.org/drawingml/2006/main">
              <a:ext uri="{FF2B5EF4-FFF2-40B4-BE49-F238E27FC236}">
                <a16:creationId xmlns:a16="http://schemas.microsoft.com/office/drawing/2014/main" id="{EC3328D3-D2FC-478A-8C00-DA58BFD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58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94A1"/>
                </a:solidFill>
                <a:latin typeface="Cascadia Mono"/>
                <a:ea typeface="Cascadia Mono"/>
                <a:cs typeface="Cascadia Mono"/>
              </a:defRPr>
            </a:pPr>
            <a:r>
              <a:t>ERAYA Casper DeFi Swarm / 7 of 7</a:t>
            </a:r>
          </a:p>
        </p:txBody>
      </p:sp>
    </p:spTree>
    <p:extLst>
      <p:ext uri="{BB962C8B-B14F-4D97-AF65-F5344CB8AC3E}">
        <p14:creationId xmlns:p14="http://schemas.microsoft.com/office/powerpoint/2010/main" val="1582954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2026-07-06T08:42:06.1350000Z</dcterms:created>
  <dcterms:modified xsi:type="dcterms:W3CDTF">2026-07-06T08:42:06.1350000Z</dcterms:modified>
</coreProperties>
</file>